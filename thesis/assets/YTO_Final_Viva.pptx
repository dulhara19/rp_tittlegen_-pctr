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348D1BF-6B6B-CD48-8430-BC6D7285B5B8}">
          <p14:sldIdLst>
            <p14:sldId id="256"/>
            <p14:sldId id="257"/>
            <p14:sldId id="258"/>
            <p14:sldId id="259"/>
          </p14:sldIdLst>
        </p14:section>
        <p14:section name="Design" id="{B6FC820C-BC26-6847-4A55-699F31187A77}">
          <p14:sldIdLst>
            <p14:sldId id="260"/>
            <p14:sldId id="261"/>
            <p14:sldId id="262"/>
          </p14:sldIdLst>
        </p14:section>
        <p14:section name="Evidence" id="{94AB3123-EF21-F761-0EE2-C4C7F0F20896}">
          <p14:sldIdLst>
            <p14:sldId id="263"/>
            <p14:sldId id="264"/>
            <p14:sldId id="265"/>
            <p14:sldId id="266"/>
            <p14:sldId id="267"/>
            <p14:sldId id="268"/>
          </p14:sldIdLst>
        </p14:section>
        <p14:section name="Wrap-up" id="{3296E328-4A98-9343-0DD8-A5D70B0D0EE2}">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Random Forest</c:v>
                </c:pt>
              </c:strCache>
            </c:strRef>
          </c:tx>
          <c:spPr>
            <a:solidFill>
              <a:srgbClr val="E63946"/>
            </a:solidFill>
            <a:effectLst/>
          </c:spPr>
          <c:invertIfNegative val="0"/>
          <c:dLbls>
            <c:numFmt formatCode="0.00" sourceLinked="0"/>
            <c:spPr>
              <a:noFill/>
              <a:ln>
                <a:noFill/>
              </a:ln>
              <a:effectLst/>
            </c:spPr>
            <c:txPr>
              <a:bodyPr/>
              <a:lstStyle/>
              <a:p>
                <a:pPr>
                  <a:defRPr sz="12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F1</c:v>
                </c:pt>
                <c:pt idx="1">
                  <c:v>ROC-AUC</c:v>
                </c:pt>
                <c:pt idx="2">
                  <c:v>Precision</c:v>
                </c:pt>
                <c:pt idx="3">
                  <c:v>Recall</c:v>
                </c:pt>
              </c:strCache>
            </c:strRef>
          </c:cat>
          <c:val>
            <c:numRef>
              <c:f>Sheet1!$B$2:$B$5</c:f>
              <c:numCache>
                <c:formatCode>General</c:formatCode>
                <c:ptCount val="4"/>
                <c:pt idx="0">
                  <c:v>0.69599999999999995</c:v>
                </c:pt>
                <c:pt idx="1">
                  <c:v>0.77100000000000002</c:v>
                </c:pt>
                <c:pt idx="2">
                  <c:v>0.69899999999999995</c:v>
                </c:pt>
                <c:pt idx="3">
                  <c:v>0.69299999999999995</c:v>
                </c:pt>
              </c:numCache>
            </c:numRef>
          </c:val>
          <c:extLst>
            <c:ext xmlns:c16="http://schemas.microsoft.com/office/drawing/2014/chart" uri="{C3380CC4-5D6E-409C-BE32-E72D297353CC}">
              <c16:uniqueId val="{00000000-4546-4D87-8ABB-ABDCF063D1AF}"/>
            </c:ext>
          </c:extLst>
        </c:ser>
        <c:ser>
          <c:idx val="1"/>
          <c:order val="1"/>
          <c:tx>
            <c:strRef>
              <c:f>Sheet1!$C$1</c:f>
              <c:strCache>
                <c:ptCount val="1"/>
                <c:pt idx="0">
                  <c:v>XGBoost</c:v>
                </c:pt>
              </c:strCache>
            </c:strRef>
          </c:tx>
          <c:spPr>
            <a:solidFill>
              <a:srgbClr val="8D99AE"/>
            </a:solidFill>
            <a:effectLst/>
          </c:spPr>
          <c:invertIfNegative val="0"/>
          <c:dLbls>
            <c:numFmt formatCode="0.00" sourceLinked="0"/>
            <c:spPr>
              <a:noFill/>
              <a:ln>
                <a:noFill/>
              </a:ln>
              <a:effectLst/>
            </c:spPr>
            <c:txPr>
              <a:bodyPr/>
              <a:lstStyle/>
              <a:p>
                <a:pPr>
                  <a:defRPr sz="12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F1</c:v>
                </c:pt>
                <c:pt idx="1">
                  <c:v>ROC-AUC</c:v>
                </c:pt>
                <c:pt idx="2">
                  <c:v>Precision</c:v>
                </c:pt>
                <c:pt idx="3">
                  <c:v>Recall</c:v>
                </c:pt>
              </c:strCache>
            </c:strRef>
          </c:cat>
          <c:val>
            <c:numRef>
              <c:f>Sheet1!$C$2:$C$5</c:f>
              <c:numCache>
                <c:formatCode>General</c:formatCode>
                <c:ptCount val="4"/>
                <c:pt idx="0">
                  <c:v>0.68200000000000005</c:v>
                </c:pt>
                <c:pt idx="1">
                  <c:v>0.76400000000000001</c:v>
                </c:pt>
                <c:pt idx="2">
                  <c:v>0.69499999999999995</c:v>
                </c:pt>
                <c:pt idx="3">
                  <c:v>0.66900000000000004</c:v>
                </c:pt>
              </c:numCache>
            </c:numRef>
          </c:val>
          <c:extLst>
            <c:ext xmlns:c16="http://schemas.microsoft.com/office/drawing/2014/chart" uri="{C3380CC4-5D6E-409C-BE32-E72D297353CC}">
              <c16:uniqueId val="{00000001-4546-4D87-8ABB-ABDCF063D1A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A44"/>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3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57D"/>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300">
              <a:solidFill>
                <a:srgbClr val="3A3A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Descriptive title</c:v>
                </c:pt>
              </c:strCache>
            </c:strRef>
          </c:tx>
          <c:spPr>
            <a:solidFill>
              <a:srgbClr val="8D99AE"/>
            </a:solidFill>
            <a:effectLst/>
          </c:spPr>
          <c:invertIfNegative val="0"/>
          <c:dLbls>
            <c:numFmt formatCode="0.00" sourceLinked="0"/>
            <c:spPr>
              <a:noFill/>
              <a:ln>
                <a:noFill/>
              </a:ln>
              <a:effectLst/>
            </c:spPr>
            <c:txPr>
              <a:bodyPr/>
              <a:lstStyle/>
              <a:p>
                <a:pPr>
                  <a:defRPr sz="11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Curiosity</c:v>
                </c:pt>
                <c:pt idx="1">
                  <c:v>Emotional impact</c:v>
                </c:pt>
                <c:pt idx="2">
                  <c:v>Clarity</c:v>
                </c:pt>
                <c:pt idx="3">
                  <c:v>Trust</c:v>
                </c:pt>
              </c:strCache>
            </c:strRef>
          </c:cat>
          <c:val>
            <c:numRef>
              <c:f>Sheet1!$B$2:$B$5</c:f>
              <c:numCache>
                <c:formatCode>General</c:formatCode>
                <c:ptCount val="4"/>
                <c:pt idx="0">
                  <c:v>3.47</c:v>
                </c:pt>
                <c:pt idx="1">
                  <c:v>3.53</c:v>
                </c:pt>
                <c:pt idx="2">
                  <c:v>3.71</c:v>
                </c:pt>
                <c:pt idx="3">
                  <c:v>3.51</c:v>
                </c:pt>
              </c:numCache>
            </c:numRef>
          </c:val>
          <c:extLst>
            <c:ext xmlns:c16="http://schemas.microsoft.com/office/drawing/2014/chart" uri="{C3380CC4-5D6E-409C-BE32-E72D297353CC}">
              <c16:uniqueId val="{00000000-0103-47DF-B9C4-26558114F182}"/>
            </c:ext>
          </c:extLst>
        </c:ser>
        <c:ser>
          <c:idx val="1"/>
          <c:order val="1"/>
          <c:tx>
            <c:strRef>
              <c:f>Sheet1!$C$1</c:f>
              <c:strCache>
                <c:ptCount val="1"/>
                <c:pt idx="0">
                  <c:v>Plain AI prompt</c:v>
                </c:pt>
              </c:strCache>
            </c:strRef>
          </c:tx>
          <c:spPr>
            <a:solidFill>
              <a:srgbClr val="F4A261"/>
            </a:solidFill>
            <a:effectLst/>
          </c:spPr>
          <c:invertIfNegative val="0"/>
          <c:dLbls>
            <c:numFmt formatCode="0.00" sourceLinked="0"/>
            <c:spPr>
              <a:noFill/>
              <a:ln>
                <a:noFill/>
              </a:ln>
              <a:effectLst/>
            </c:spPr>
            <c:txPr>
              <a:bodyPr/>
              <a:lstStyle/>
              <a:p>
                <a:pPr>
                  <a:defRPr sz="11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Curiosity</c:v>
                </c:pt>
                <c:pt idx="1">
                  <c:v>Emotional impact</c:v>
                </c:pt>
                <c:pt idx="2">
                  <c:v>Clarity</c:v>
                </c:pt>
                <c:pt idx="3">
                  <c:v>Trust</c:v>
                </c:pt>
              </c:strCache>
            </c:strRef>
          </c:cat>
          <c:val>
            <c:numRef>
              <c:f>Sheet1!$C$2:$C$5</c:f>
              <c:numCache>
                <c:formatCode>General</c:formatCode>
                <c:ptCount val="4"/>
                <c:pt idx="0">
                  <c:v>3.39</c:v>
                </c:pt>
                <c:pt idx="1">
                  <c:v>3.37</c:v>
                </c:pt>
                <c:pt idx="2">
                  <c:v>3.65</c:v>
                </c:pt>
                <c:pt idx="3">
                  <c:v>3.43</c:v>
                </c:pt>
              </c:numCache>
            </c:numRef>
          </c:val>
          <c:extLst>
            <c:ext xmlns:c16="http://schemas.microsoft.com/office/drawing/2014/chart" uri="{C3380CC4-5D6E-409C-BE32-E72D297353CC}">
              <c16:uniqueId val="{00000001-0103-47DF-B9C4-26558114F182}"/>
            </c:ext>
          </c:extLst>
        </c:ser>
        <c:ser>
          <c:idx val="2"/>
          <c:order val="2"/>
          <c:tx>
            <c:strRef>
              <c:f>Sheet1!$D$1</c:f>
              <c:strCache>
                <c:ptCount val="1"/>
                <c:pt idx="0">
                  <c:v>My system</c:v>
                </c:pt>
              </c:strCache>
            </c:strRef>
          </c:tx>
          <c:spPr>
            <a:solidFill>
              <a:srgbClr val="E63946"/>
            </a:solidFill>
            <a:effectLst/>
          </c:spPr>
          <c:invertIfNegative val="0"/>
          <c:dLbls>
            <c:numFmt formatCode="0.00" sourceLinked="0"/>
            <c:spPr>
              <a:noFill/>
              <a:ln>
                <a:noFill/>
              </a:ln>
              <a:effectLst/>
            </c:spPr>
            <c:txPr>
              <a:bodyPr/>
              <a:lstStyle/>
              <a:p>
                <a:pPr>
                  <a:defRPr sz="11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Curiosity</c:v>
                </c:pt>
                <c:pt idx="1">
                  <c:v>Emotional impact</c:v>
                </c:pt>
                <c:pt idx="2">
                  <c:v>Clarity</c:v>
                </c:pt>
                <c:pt idx="3">
                  <c:v>Trust</c:v>
                </c:pt>
              </c:strCache>
            </c:strRef>
          </c:cat>
          <c:val>
            <c:numRef>
              <c:f>Sheet1!$D$2:$D$5</c:f>
              <c:numCache>
                <c:formatCode>General</c:formatCode>
                <c:ptCount val="4"/>
                <c:pt idx="0">
                  <c:v>3.52</c:v>
                </c:pt>
                <c:pt idx="1">
                  <c:v>3.59</c:v>
                </c:pt>
                <c:pt idx="2">
                  <c:v>3.55</c:v>
                </c:pt>
                <c:pt idx="3">
                  <c:v>3.51</c:v>
                </c:pt>
              </c:numCache>
            </c:numRef>
          </c:val>
          <c:extLst>
            <c:ext xmlns:c16="http://schemas.microsoft.com/office/drawing/2014/chart" uri="{C3380CC4-5D6E-409C-BE32-E72D297353CC}">
              <c16:uniqueId val="{00000002-0103-47DF-B9C4-26558114F18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A44"/>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3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57D"/>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300">
              <a:solidFill>
                <a:srgbClr val="3A3A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Descriptive title</c:v>
                </c:pt>
              </c:strCache>
            </c:strRef>
          </c:tx>
          <c:spPr>
            <a:solidFill>
              <a:srgbClr val="8D99AE"/>
            </a:solidFill>
            <a:effectLst/>
          </c:spPr>
          <c:invertIfNegative val="0"/>
          <c:dLbls>
            <c:numFmt formatCode="0.00" sourceLinked="0"/>
            <c:spPr>
              <a:noFill/>
              <a:ln>
                <a:noFill/>
              </a:ln>
              <a:effectLst/>
            </c:spPr>
            <c:txPr>
              <a:bodyPr/>
              <a:lstStyle/>
              <a:p>
                <a:pPr>
                  <a:defRPr sz="11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Curiosity</c:v>
                </c:pt>
                <c:pt idx="1">
                  <c:v>Urgency</c:v>
                </c:pt>
                <c:pt idx="2">
                  <c:v>Relevance</c:v>
                </c:pt>
                <c:pt idx="3">
                  <c:v>Overall</c:v>
                </c:pt>
              </c:strCache>
            </c:strRef>
          </c:cat>
          <c:val>
            <c:numRef>
              <c:f>Sheet1!$B$2:$B$5</c:f>
              <c:numCache>
                <c:formatCode>General</c:formatCode>
                <c:ptCount val="4"/>
                <c:pt idx="0">
                  <c:v>3.25</c:v>
                </c:pt>
                <c:pt idx="1">
                  <c:v>2.2999999999999998</c:v>
                </c:pt>
                <c:pt idx="2">
                  <c:v>4.5</c:v>
                </c:pt>
                <c:pt idx="3">
                  <c:v>3.3</c:v>
                </c:pt>
              </c:numCache>
            </c:numRef>
          </c:val>
          <c:extLst>
            <c:ext xmlns:c16="http://schemas.microsoft.com/office/drawing/2014/chart" uri="{C3380CC4-5D6E-409C-BE32-E72D297353CC}">
              <c16:uniqueId val="{00000000-9807-432B-A293-B6BECA2DB5C7}"/>
            </c:ext>
          </c:extLst>
        </c:ser>
        <c:ser>
          <c:idx val="1"/>
          <c:order val="1"/>
          <c:tx>
            <c:strRef>
              <c:f>Sheet1!$C$1</c:f>
              <c:strCache>
                <c:ptCount val="1"/>
                <c:pt idx="0">
                  <c:v>Plain AI prompt</c:v>
                </c:pt>
              </c:strCache>
            </c:strRef>
          </c:tx>
          <c:spPr>
            <a:solidFill>
              <a:srgbClr val="F4A261"/>
            </a:solidFill>
            <a:effectLst/>
          </c:spPr>
          <c:invertIfNegative val="0"/>
          <c:dLbls>
            <c:numFmt formatCode="0.00" sourceLinked="0"/>
            <c:spPr>
              <a:noFill/>
              <a:ln>
                <a:noFill/>
              </a:ln>
              <a:effectLst/>
            </c:spPr>
            <c:txPr>
              <a:bodyPr/>
              <a:lstStyle/>
              <a:p>
                <a:pPr>
                  <a:defRPr sz="11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Curiosity</c:v>
                </c:pt>
                <c:pt idx="1">
                  <c:v>Urgency</c:v>
                </c:pt>
                <c:pt idx="2">
                  <c:v>Relevance</c:v>
                </c:pt>
                <c:pt idx="3">
                  <c:v>Overall</c:v>
                </c:pt>
              </c:strCache>
            </c:strRef>
          </c:cat>
          <c:val>
            <c:numRef>
              <c:f>Sheet1!$C$2:$C$5</c:f>
              <c:numCache>
                <c:formatCode>General</c:formatCode>
                <c:ptCount val="4"/>
                <c:pt idx="0">
                  <c:v>3.9</c:v>
                </c:pt>
                <c:pt idx="1">
                  <c:v>2.85</c:v>
                </c:pt>
                <c:pt idx="2">
                  <c:v>4.95</c:v>
                </c:pt>
                <c:pt idx="3">
                  <c:v>3.85</c:v>
                </c:pt>
              </c:numCache>
            </c:numRef>
          </c:val>
          <c:extLst>
            <c:ext xmlns:c16="http://schemas.microsoft.com/office/drawing/2014/chart" uri="{C3380CC4-5D6E-409C-BE32-E72D297353CC}">
              <c16:uniqueId val="{00000001-9807-432B-A293-B6BECA2DB5C7}"/>
            </c:ext>
          </c:extLst>
        </c:ser>
        <c:ser>
          <c:idx val="2"/>
          <c:order val="2"/>
          <c:tx>
            <c:strRef>
              <c:f>Sheet1!$D$1</c:f>
              <c:strCache>
                <c:ptCount val="1"/>
                <c:pt idx="0">
                  <c:v>My system</c:v>
                </c:pt>
              </c:strCache>
            </c:strRef>
          </c:tx>
          <c:spPr>
            <a:solidFill>
              <a:srgbClr val="E63946"/>
            </a:solidFill>
            <a:effectLst/>
          </c:spPr>
          <c:invertIfNegative val="0"/>
          <c:dLbls>
            <c:numFmt formatCode="0.00" sourceLinked="0"/>
            <c:spPr>
              <a:noFill/>
              <a:ln>
                <a:noFill/>
              </a:ln>
              <a:effectLst/>
            </c:spPr>
            <c:txPr>
              <a:bodyPr/>
              <a:lstStyle/>
              <a:p>
                <a:pPr>
                  <a:defRPr sz="11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Curiosity</c:v>
                </c:pt>
                <c:pt idx="1">
                  <c:v>Urgency</c:v>
                </c:pt>
                <c:pt idx="2">
                  <c:v>Relevance</c:v>
                </c:pt>
                <c:pt idx="3">
                  <c:v>Overall</c:v>
                </c:pt>
              </c:strCache>
            </c:strRef>
          </c:cat>
          <c:val>
            <c:numRef>
              <c:f>Sheet1!$D$2:$D$5</c:f>
              <c:numCache>
                <c:formatCode>General</c:formatCode>
                <c:ptCount val="4"/>
                <c:pt idx="0">
                  <c:v>4</c:v>
                </c:pt>
                <c:pt idx="1">
                  <c:v>2.95</c:v>
                </c:pt>
                <c:pt idx="2">
                  <c:v>4.55</c:v>
                </c:pt>
                <c:pt idx="3">
                  <c:v>3.95</c:v>
                </c:pt>
              </c:numCache>
            </c:numRef>
          </c:val>
          <c:extLst>
            <c:ext xmlns:c16="http://schemas.microsoft.com/office/drawing/2014/chart" uri="{C3380CC4-5D6E-409C-BE32-E72D297353CC}">
              <c16:uniqueId val="{00000002-9807-432B-A293-B6BECA2DB5C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A44"/>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3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57D"/>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300">
              <a:solidFill>
                <a:srgbClr val="3A3A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331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I built a system that writes YouTube titles that make people curious, and then checks that the title does not lie about the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video's title decides whether people click. YouTube tests new videos on a small audience, so a weak title can kill a good video before it spreads. Professional copywriters know the tricks, but most creators don't.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literature-review point in one slide. Existing tools are either reactive analytics, generic LLM prompts, manual experts, or detectors that only flag clickbait. None combines optimization with a truth check. The last row is honest about this system's own limitation: no real CTR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it like a factory line. The Analyzer reads the video, the Generator writes candidate titles, the Critic checks and ranks them. The user only sees one API call. LLM is GPT-4o by default (configurable).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research questions map to the four parts of the project: prompts (RQ1), architecture (RQ2), comparison against baselines (RQ3), and LLM-as-a-judge (RQ4). The method is Design Science Research following Peffers' DSRM.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design choice: the Generator never reads the raw transcript, only the Analyzer's brief. That separation is the main anti-hallucination mechanism. Prompt techniques: few-shot, chain-of-thought, persona.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Neutral is allowed on purpose: a title can be punchy without repeating the content word for word. Only contradictions are hard-rejected. Weights 0.5/0.25/0.25 are the initial weights from the design, not tuned. NLI model: facebook/bart-large-mnli. BERTScore uses roberta-large.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Kaggle datasets were stacked, cut to the same 9 columns, and de-duplicated by video id. Because Kaggle has no subscriber counts, 'viral' means views above the category median, not views per subscriber. Limitation: only trending videos, so there is survivorship bias.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balances precision and recall; ROC-AUC says how well the model ranks viral above non-viral titles (0.5 = coin flip, 1.0 = perfect). Test results for the chosen Random Forest: F1 0.690, AUC 0.761, precision 0.691, recall 0.689. The two models are very close. Be upfront that the targets were missed and explain why.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comes from the trained Random Forest. Honest caveat: importance shows what the model uses, not what causes clicks. The design expected VADER, numbers and length to lead; length did, VADER came in lower.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Self-BLEU measures overlap between the 5 titles in a batch; low means diverse. The pCTR value is the model's probability output (0 to 1), compared against the planned threshold. BERTScore being above the planned range means titles stay very close to the video content; the range was set before testing. VADER arousal missed the target of 0.4; average was 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survey: 3 videos, 3 title types, 4 rating dimensions, 29 respondents. The original plan was 10 videos and 50+ participants, descoped for realistic completion. Tests were Wilcoxon signed-rank at alpha 0.05. Report this as limited evidence.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 scores each title on curiosity, urgency, relevance and overall (1 to 5), following the SOT rubric. Baseline A is the descriptive title, Baseline B is a generic zero-shot LLM prompt. Be honest: the system's real win is over descriptive titles; against a plain AI prompt the difference is not significant.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gaps: the biggest is that no public dataset has real click-through rate, so the pCTR model is a proxy. That is also why the model did not reach its targets.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three things you can prove: it works end to end, it keeps titles truthful, and it is fast enough.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IEEE style. All sources are from the verified list in SOT section 21.</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Alphabetical list of every abbreviation used in the deck, following Appendix VII of the thesis guideline.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680960" cy="21945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4114800"/>
            <a:ext cx="7680960" cy="91440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680960" cy="21945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4114800"/>
            <a:ext cx="7680960" cy="91440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CFCFD6"/>
                </a:solidFill>
                <a:latin typeface="Times New Roman"/>
                <a:ea typeface="Times New Roman"/>
                <a:cs typeface="Times New Roman"/>
              </a:defRPr>
            </a:lvl1pPr>
          </a:lstStyle>
          <a:p>
            <a:pPr algn="ct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680960" cy="2194560"/>
          </a:xfrm>
          <a:prstGeom prst="rect">
            <a:avLst/>
          </a:prstGeom>
          <a:noFill/>
          <a:ln/>
        </p:spPr>
        <p:txBody>
          <a:bodyPr wrap="square" lIns="0" tIns="0" rIns="0" bIns="0" rtlCol="0" anchor="b"/>
          <a:lstStyle/>
          <a:p>
            <a:pPr marL="0" indent="0" algn="l">
              <a:buNone/>
            </a:pPr>
            <a:r>
              <a:rPr lang="en-US" sz="4000" b="1" dirty="0">
                <a:solidFill>
                  <a:schemeClr val="bg1"/>
                </a:solidFill>
              </a:rPr>
              <a:t>AI-POWERED PROACTIVE YOUTUBE TITLE OPTIMIZER</a:t>
            </a:r>
            <a:endParaRPr lang="en-US" sz="4000" dirty="0"/>
          </a:p>
        </p:txBody>
      </p:sp>
      <p:sp>
        <p:nvSpPr>
          <p:cNvPr id="3" name="Text 0"/>
          <p:cNvSpPr>
            <a:spLocks noGrp="1"/>
          </p:cNvSpPr>
          <p:nvPr>
            <p:ph type="body" idx="101" hasCustomPrompt="1"/>
          </p:nvPr>
        </p:nvSpPr>
        <p:spPr>
          <a:xfrm>
            <a:off x="731520" y="4114800"/>
            <a:ext cx="7680960" cy="914400"/>
          </a:xfrm>
          <a:prstGeom prst="rect">
            <a:avLst/>
          </a:prstGeom>
          <a:noFill/>
          <a:ln/>
        </p:spPr>
        <p:txBody>
          <a:bodyPr wrap="square" lIns="0" tIns="0" rIns="0" bIns="0" rtlCol="0" anchor="t"/>
          <a:lstStyle/>
          <a:p>
            <a:pPr marL="0" indent="0" algn="l">
              <a:buNone/>
            </a:pPr>
            <a:r>
              <a:rPr lang="en-US" sz="2000" dirty="0">
                <a:solidFill>
                  <a:schemeClr val="bg2"/>
                </a:solidFill>
              </a:rPr>
              <a:t>A multi-agent system that writes catchy video titles without lying about the video</a:t>
            </a:r>
            <a:endParaRPr lang="en-US" sz="2000" dirty="0"/>
          </a:p>
        </p:txBody>
      </p:sp>
      <p:sp>
        <p:nvSpPr>
          <p:cNvPr id="4" name="Hero circle"/>
          <p:cNvSpPr/>
          <p:nvPr/>
        </p:nvSpPr>
        <p:spPr>
          <a:xfrm>
            <a:off x="8869680" y="1737360"/>
            <a:ext cx="2834640" cy="2834640"/>
          </a:xfrm>
          <a:prstGeom prst="ellipse">
            <a:avLst/>
          </a:prstGeom>
          <a:solidFill>
            <a:schemeClr val="accent1"/>
          </a:solidFill>
          <a:ln w="12700">
            <a:solidFill>
              <a:schemeClr val="accent1"/>
            </a:solidFill>
            <a:prstDash val="solid"/>
          </a:ln>
        </p:spPr>
        <p:txBody>
          <a:bodyPr/>
          <a:lstStyle/>
          <a:p>
            <a:endParaRPr lang="en-US"/>
          </a:p>
        </p:txBody>
      </p:sp>
      <p:pic>
        <p:nvPicPr>
          <p:cNvPr id="5" name="Hero play icon" descr="Play icon"/>
          <p:cNvPicPr>
            <a:picLocks noChangeAspect="1"/>
          </p:cNvPicPr>
          <p:nvPr/>
        </p:nvPicPr>
        <p:blipFill>
          <a:blip r:embed="rId3"/>
          <a:stretch>
            <a:fillRect/>
          </a:stretch>
        </p:blipFill>
        <p:spPr>
          <a:xfrm>
            <a:off x="9692640" y="2560320"/>
            <a:ext cx="1188720" cy="1188720"/>
          </a:xfrm>
          <a:prstGeom prst="rect">
            <a:avLst/>
          </a:prstGeom>
        </p:spPr>
      </p:pic>
      <p:sp>
        <p:nvSpPr>
          <p:cNvPr id="6" name="Text 3"/>
          <p:cNvSpPr txBox="1"/>
          <p:nvPr/>
        </p:nvSpPr>
        <p:spPr>
          <a:xfrm>
            <a:off x="731520" y="5349240"/>
            <a:ext cx="8229600" cy="320040"/>
          </a:xfrm>
          <a:prstGeom prst="rect">
            <a:avLst/>
          </a:prstGeom>
          <a:noFill/>
          <a:ln/>
        </p:spPr>
        <p:txBody>
          <a:bodyPr wrap="square" lIns="0" tIns="0" rIns="0" bIns="0" rtlCol="0" anchor="t"/>
          <a:lstStyle/>
          <a:p>
            <a:pPr marL="0" indent="0" algn="l">
              <a:buNone/>
            </a:pPr>
            <a:r>
              <a:rPr lang="en-US" sz="1600" b="1" dirty="0">
                <a:solidFill>
                  <a:schemeClr val="bg1"/>
                </a:solidFill>
              </a:rPr>
              <a:t>P.A.D.B. Pathiraja  |  Student ID 29071</a:t>
            </a:r>
            <a:endParaRPr lang="en-US" sz="1600" dirty="0"/>
          </a:p>
        </p:txBody>
      </p:sp>
      <p:sp>
        <p:nvSpPr>
          <p:cNvPr id="7" name="Text 4"/>
          <p:cNvSpPr txBox="1"/>
          <p:nvPr/>
        </p:nvSpPr>
        <p:spPr>
          <a:xfrm>
            <a:off x="731520" y="5715000"/>
            <a:ext cx="10058400" cy="320040"/>
          </a:xfrm>
          <a:prstGeom prst="rect">
            <a:avLst/>
          </a:prstGeom>
          <a:noFill/>
          <a:ln/>
        </p:spPr>
        <p:txBody>
          <a:bodyPr wrap="square" lIns="0" tIns="0" rIns="0" bIns="0" rtlCol="0" anchor="t"/>
          <a:lstStyle/>
          <a:p>
            <a:pPr marL="0" indent="0" algn="l">
              <a:buNone/>
            </a:pPr>
            <a:r>
              <a:rPr lang="en-US" sz="1400" dirty="0">
                <a:solidFill>
                  <a:schemeClr val="bg2"/>
                </a:solidFill>
              </a:rPr>
              <a:t>B.Sc. (Hons) Software Engineering  |  Faculty of Computing</a:t>
            </a:r>
            <a:endParaRPr lang="en-US" sz="1400" dirty="0"/>
          </a:p>
        </p:txBody>
      </p:sp>
      <p:sp>
        <p:nvSpPr>
          <p:cNvPr id="8" name="Text 5"/>
          <p:cNvSpPr txBox="1"/>
          <p:nvPr/>
        </p:nvSpPr>
        <p:spPr>
          <a:xfrm>
            <a:off x="731520" y="6053328"/>
            <a:ext cx="10058400" cy="320040"/>
          </a:xfrm>
          <a:prstGeom prst="rect">
            <a:avLst/>
          </a:prstGeom>
          <a:noFill/>
          <a:ln/>
        </p:spPr>
        <p:txBody>
          <a:bodyPr wrap="square" lIns="0" tIns="0" rIns="0" bIns="0" rtlCol="0" anchor="t"/>
          <a:lstStyle/>
          <a:p>
            <a:pPr marL="0" indent="0" algn="l">
              <a:buNone/>
            </a:pPr>
            <a:r>
              <a:rPr lang="en-US" sz="1400" dirty="0">
                <a:solidFill>
                  <a:schemeClr val="bg2"/>
                </a:solidFill>
              </a:rPr>
              <a:t>NSBM Green University, Sri Lanka  |  Final Viva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Why video titles matter so much</a:t>
            </a:r>
            <a:endParaRPr lang="en-US" sz="3400" dirty="0"/>
          </a:p>
        </p:txBody>
      </p:sp>
      <p:sp>
        <p:nvSpPr>
          <p:cNvPr id="3" name="Problem card 1"/>
          <p:cNvSpPr/>
          <p:nvPr/>
        </p:nvSpPr>
        <p:spPr>
          <a:xfrm>
            <a:off x="548640" y="1508760"/>
            <a:ext cx="3520440" cy="3246120"/>
          </a:xfrm>
          <a:prstGeom prst="rect">
            <a:avLst/>
          </a:prstGeom>
          <a:solidFill>
            <a:schemeClr val="bg2"/>
          </a:solidFill>
          <a:ln w="12700">
            <a:solidFill>
              <a:schemeClr val="bg2"/>
            </a:solidFill>
            <a:prstDash val="solid"/>
          </a:ln>
        </p:spPr>
        <p:txBody>
          <a:bodyPr/>
          <a:lstStyle/>
          <a:p>
            <a:endParaRPr lang="en-US"/>
          </a:p>
        </p:txBody>
      </p:sp>
      <p:sp>
        <p:nvSpPr>
          <p:cNvPr id="4" name="Problem 1 circle"/>
          <p:cNvSpPr/>
          <p:nvPr/>
        </p:nvSpPr>
        <p:spPr>
          <a:xfrm>
            <a:off x="868680" y="178308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5" name="Problem 1 icon" descr="Problem 1"/>
          <p:cNvPicPr>
            <a:picLocks noChangeAspect="1"/>
          </p:cNvPicPr>
          <p:nvPr/>
        </p:nvPicPr>
        <p:blipFill>
          <a:blip r:embed="rId3"/>
          <a:stretch>
            <a:fillRect/>
          </a:stretch>
        </p:blipFill>
        <p:spPr>
          <a:xfrm>
            <a:off x="1051560" y="1965960"/>
            <a:ext cx="365760" cy="365760"/>
          </a:xfrm>
          <a:prstGeom prst="rect">
            <a:avLst/>
          </a:prstGeom>
        </p:spPr>
      </p:pic>
      <p:sp>
        <p:nvSpPr>
          <p:cNvPr id="6" name="Text 3"/>
          <p:cNvSpPr txBox="1"/>
          <p:nvPr/>
        </p:nvSpPr>
        <p:spPr>
          <a:xfrm>
            <a:off x="868680" y="2743200"/>
            <a:ext cx="2926080" cy="640080"/>
          </a:xfrm>
          <a:prstGeom prst="rect">
            <a:avLst/>
          </a:prstGeom>
          <a:noFill/>
          <a:ln/>
        </p:spPr>
        <p:txBody>
          <a:bodyPr wrap="square" lIns="0" tIns="0" rIns="0" bIns="0" rtlCol="0" anchor="t"/>
          <a:lstStyle/>
          <a:p>
            <a:pPr marL="0" indent="0" algn="l">
              <a:buNone/>
            </a:pPr>
            <a:r>
              <a:rPr lang="en-US" sz="3600" b="1" dirty="0">
                <a:solidFill>
                  <a:schemeClr val="tx1"/>
                </a:solidFill>
                <a:latin typeface="Times New Roman" pitchFamily="34" charset="0"/>
                <a:ea typeface="Times New Roman" pitchFamily="34" charset="-122"/>
                <a:cs typeface="Times New Roman" pitchFamily="34" charset="-120"/>
              </a:rPr>
              <a:t>500 hours</a:t>
            </a:r>
            <a:endParaRPr lang="en-US" sz="3600" dirty="0"/>
          </a:p>
        </p:txBody>
      </p:sp>
      <p:sp>
        <p:nvSpPr>
          <p:cNvPr id="7" name="Text 4"/>
          <p:cNvSpPr txBox="1"/>
          <p:nvPr/>
        </p:nvSpPr>
        <p:spPr>
          <a:xfrm>
            <a:off x="868680" y="3474720"/>
            <a:ext cx="2926080" cy="1188720"/>
          </a:xfrm>
          <a:prstGeom prst="rect">
            <a:avLst/>
          </a:prstGeom>
          <a:noFill/>
          <a:ln/>
        </p:spPr>
        <p:txBody>
          <a:bodyPr wrap="square" lIns="0" tIns="0" rIns="0" bIns="0" rtlCol="0" anchor="t"/>
          <a:lstStyle/>
          <a:p>
            <a:pPr marL="0" indent="0" algn="l">
              <a:buNone/>
            </a:pPr>
            <a:r>
              <a:rPr lang="en-US" sz="1600" dirty="0">
                <a:solidFill>
                  <a:schemeClr val="tx2"/>
                </a:solidFill>
              </a:rPr>
              <a:t>of video are uploaded to YouTube every minute, so finding a video is harder than making one</a:t>
            </a:r>
            <a:endParaRPr lang="en-US" sz="1600" dirty="0"/>
          </a:p>
        </p:txBody>
      </p:sp>
      <p:sp>
        <p:nvSpPr>
          <p:cNvPr id="8" name="Problem card 2"/>
          <p:cNvSpPr/>
          <p:nvPr/>
        </p:nvSpPr>
        <p:spPr>
          <a:xfrm>
            <a:off x="4343400" y="1508760"/>
            <a:ext cx="3520440" cy="3246120"/>
          </a:xfrm>
          <a:prstGeom prst="rect">
            <a:avLst/>
          </a:prstGeom>
          <a:solidFill>
            <a:schemeClr val="bg2"/>
          </a:solidFill>
          <a:ln w="12700">
            <a:solidFill>
              <a:schemeClr val="bg2"/>
            </a:solidFill>
            <a:prstDash val="solid"/>
          </a:ln>
        </p:spPr>
        <p:txBody>
          <a:bodyPr/>
          <a:lstStyle/>
          <a:p>
            <a:endParaRPr lang="en-US"/>
          </a:p>
        </p:txBody>
      </p:sp>
      <p:sp>
        <p:nvSpPr>
          <p:cNvPr id="9" name="Problem 2 circle"/>
          <p:cNvSpPr/>
          <p:nvPr/>
        </p:nvSpPr>
        <p:spPr>
          <a:xfrm>
            <a:off x="4663440" y="178308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0" name="Problem 2 icon" descr="Problem 2"/>
          <p:cNvPicPr>
            <a:picLocks noChangeAspect="1"/>
          </p:cNvPicPr>
          <p:nvPr/>
        </p:nvPicPr>
        <p:blipFill>
          <a:blip r:embed="rId4"/>
          <a:stretch>
            <a:fillRect/>
          </a:stretch>
        </p:blipFill>
        <p:spPr>
          <a:xfrm>
            <a:off x="4846320" y="1965960"/>
            <a:ext cx="365760" cy="365760"/>
          </a:xfrm>
          <a:prstGeom prst="rect">
            <a:avLst/>
          </a:prstGeom>
        </p:spPr>
      </p:pic>
      <p:sp>
        <p:nvSpPr>
          <p:cNvPr id="11" name="Text 7"/>
          <p:cNvSpPr txBox="1"/>
          <p:nvPr/>
        </p:nvSpPr>
        <p:spPr>
          <a:xfrm>
            <a:off x="4663440" y="2743200"/>
            <a:ext cx="2926080" cy="640080"/>
          </a:xfrm>
          <a:prstGeom prst="rect">
            <a:avLst/>
          </a:prstGeom>
          <a:noFill/>
          <a:ln/>
        </p:spPr>
        <p:txBody>
          <a:bodyPr wrap="square" lIns="0" tIns="0" rIns="0" bIns="0" rtlCol="0" anchor="t"/>
          <a:lstStyle/>
          <a:p>
            <a:pPr marL="0" indent="0" algn="l">
              <a:buNone/>
            </a:pPr>
            <a:r>
              <a:rPr lang="en-US" sz="3600" b="1" dirty="0">
                <a:solidFill>
                  <a:schemeClr val="tx1"/>
                </a:solidFill>
                <a:latin typeface="Times New Roman" pitchFamily="34" charset="0"/>
                <a:ea typeface="Times New Roman" pitchFamily="34" charset="-122"/>
                <a:cs typeface="Times New Roman" pitchFamily="34" charset="-120"/>
              </a:rPr>
              <a:t>Milliseconds</a:t>
            </a:r>
            <a:endParaRPr lang="en-US" sz="3600" dirty="0"/>
          </a:p>
        </p:txBody>
      </p:sp>
      <p:sp>
        <p:nvSpPr>
          <p:cNvPr id="12" name="Text 8"/>
          <p:cNvSpPr txBox="1"/>
          <p:nvPr/>
        </p:nvSpPr>
        <p:spPr>
          <a:xfrm>
            <a:off x="4663440" y="3474720"/>
            <a:ext cx="2926080" cy="1188720"/>
          </a:xfrm>
          <a:prstGeom prst="rect">
            <a:avLst/>
          </a:prstGeom>
          <a:noFill/>
          <a:ln/>
        </p:spPr>
        <p:txBody>
          <a:bodyPr wrap="square" lIns="0" tIns="0" rIns="0" bIns="0" rtlCol="0" anchor="t"/>
          <a:lstStyle/>
          <a:p>
            <a:pPr marL="0" indent="0" algn="l">
              <a:buNone/>
            </a:pPr>
            <a:r>
              <a:rPr lang="en-US" sz="1600" dirty="0">
                <a:solidFill>
                  <a:schemeClr val="tx2"/>
                </a:solidFill>
              </a:rPr>
              <a:t>is all a viewer spends judging the title and thumbnail before deciding to click</a:t>
            </a:r>
            <a:endParaRPr lang="en-US" sz="1600" dirty="0"/>
          </a:p>
        </p:txBody>
      </p:sp>
      <p:sp>
        <p:nvSpPr>
          <p:cNvPr id="13" name="Problem card 3"/>
          <p:cNvSpPr/>
          <p:nvPr/>
        </p:nvSpPr>
        <p:spPr>
          <a:xfrm>
            <a:off x="8138160" y="1508760"/>
            <a:ext cx="3520440" cy="3246120"/>
          </a:xfrm>
          <a:prstGeom prst="rect">
            <a:avLst/>
          </a:prstGeom>
          <a:solidFill>
            <a:schemeClr val="bg2"/>
          </a:solidFill>
          <a:ln w="12700">
            <a:solidFill>
              <a:schemeClr val="bg2"/>
            </a:solidFill>
            <a:prstDash val="solid"/>
          </a:ln>
        </p:spPr>
        <p:txBody>
          <a:bodyPr/>
          <a:lstStyle/>
          <a:p>
            <a:endParaRPr lang="en-US"/>
          </a:p>
        </p:txBody>
      </p:sp>
      <p:sp>
        <p:nvSpPr>
          <p:cNvPr id="14" name="Problem 3 circle"/>
          <p:cNvSpPr/>
          <p:nvPr/>
        </p:nvSpPr>
        <p:spPr>
          <a:xfrm>
            <a:off x="8458200" y="178308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5" name="Problem 3 icon" descr="Problem 3"/>
          <p:cNvPicPr>
            <a:picLocks noChangeAspect="1"/>
          </p:cNvPicPr>
          <p:nvPr/>
        </p:nvPicPr>
        <p:blipFill>
          <a:blip r:embed="rId5"/>
          <a:stretch>
            <a:fillRect/>
          </a:stretch>
        </p:blipFill>
        <p:spPr>
          <a:xfrm>
            <a:off x="8641080" y="1965960"/>
            <a:ext cx="365760" cy="365760"/>
          </a:xfrm>
          <a:prstGeom prst="rect">
            <a:avLst/>
          </a:prstGeom>
        </p:spPr>
      </p:pic>
      <p:sp>
        <p:nvSpPr>
          <p:cNvPr id="16" name="Text 11"/>
          <p:cNvSpPr txBox="1"/>
          <p:nvPr/>
        </p:nvSpPr>
        <p:spPr>
          <a:xfrm>
            <a:off x="8458200" y="2743200"/>
            <a:ext cx="2926080" cy="640080"/>
          </a:xfrm>
          <a:prstGeom prst="rect">
            <a:avLst/>
          </a:prstGeom>
          <a:noFill/>
          <a:ln/>
        </p:spPr>
        <p:txBody>
          <a:bodyPr wrap="square" lIns="0" tIns="0" rIns="0" bIns="0" rtlCol="0" anchor="t"/>
          <a:lstStyle/>
          <a:p>
            <a:pPr marL="0" indent="0" algn="l">
              <a:buNone/>
            </a:pPr>
            <a:r>
              <a:rPr lang="en-US" sz="3600" b="1" dirty="0">
                <a:solidFill>
                  <a:schemeClr val="tx1"/>
                </a:solidFill>
                <a:latin typeface="Times New Roman" pitchFamily="34" charset="0"/>
                <a:ea typeface="Times New Roman" pitchFamily="34" charset="-122"/>
                <a:cs typeface="Times New Roman" pitchFamily="34" charset="-120"/>
              </a:rPr>
              <a:t>One test</a:t>
            </a:r>
            <a:endParaRPr lang="en-US" sz="3600" dirty="0"/>
          </a:p>
        </p:txBody>
      </p:sp>
      <p:sp>
        <p:nvSpPr>
          <p:cNvPr id="17" name="Text 12"/>
          <p:cNvSpPr txBox="1"/>
          <p:nvPr/>
        </p:nvSpPr>
        <p:spPr>
          <a:xfrm>
            <a:off x="8458200" y="3474720"/>
            <a:ext cx="2926080" cy="1188720"/>
          </a:xfrm>
          <a:prstGeom prst="rect">
            <a:avLst/>
          </a:prstGeom>
          <a:noFill/>
          <a:ln/>
        </p:spPr>
        <p:txBody>
          <a:bodyPr wrap="square" lIns="0" tIns="0" rIns="0" bIns="0" rtlCol="0" anchor="t"/>
          <a:lstStyle/>
          <a:p>
            <a:pPr marL="0" indent="0" algn="l">
              <a:buNone/>
            </a:pPr>
            <a:r>
              <a:rPr lang="en-US" sz="1600" dirty="0">
                <a:solidFill>
                  <a:schemeClr val="tx2"/>
                </a:solidFill>
              </a:rPr>
              <a:t>YouTube shows a new video to a small group first. If few click, it stops recommending it</a:t>
            </a:r>
            <a:endParaRPr lang="en-US" sz="1600" dirty="0"/>
          </a:p>
        </p:txBody>
      </p:sp>
      <p:sp>
        <p:nvSpPr>
          <p:cNvPr id="18" name="Key message"/>
          <p:cNvSpPr/>
          <p:nvPr/>
        </p:nvSpPr>
        <p:spPr>
          <a:xfrm>
            <a:off x="548640" y="5074920"/>
            <a:ext cx="11064240" cy="1051560"/>
          </a:xfrm>
          <a:prstGeom prst="rect">
            <a:avLst/>
          </a:prstGeom>
          <a:solidFill>
            <a:schemeClr val="tx1"/>
          </a:solidFill>
          <a:ln w="12700">
            <a:solidFill>
              <a:schemeClr val="tx1"/>
            </a:solidFill>
            <a:prstDash val="solid"/>
          </a:ln>
        </p:spPr>
        <p:txBody>
          <a:bodyPr/>
          <a:lstStyle/>
          <a:p>
            <a:endParaRPr lang="en-US"/>
          </a:p>
        </p:txBody>
      </p:sp>
      <p:sp>
        <p:nvSpPr>
          <p:cNvPr id="19" name="Text 14"/>
          <p:cNvSpPr txBox="1"/>
          <p:nvPr/>
        </p:nvSpPr>
        <p:spPr>
          <a:xfrm>
            <a:off x="868680" y="5074920"/>
            <a:ext cx="10424160" cy="1051560"/>
          </a:xfrm>
          <a:prstGeom prst="rect">
            <a:avLst/>
          </a:prstGeom>
          <a:noFill/>
          <a:ln/>
        </p:spPr>
        <p:txBody>
          <a:bodyPr wrap="square" lIns="0" tIns="0" rIns="0" bIns="0" rtlCol="0" anchor="ctr"/>
          <a:lstStyle/>
          <a:p>
            <a:pPr marL="0" indent="0" algn="l">
              <a:buNone/>
            </a:pPr>
            <a:r>
              <a:rPr lang="en-US" sz="2000" b="1" dirty="0">
                <a:solidFill>
                  <a:schemeClr val="bg1"/>
                </a:solidFill>
              </a:rPr>
              <a:t>One weak title can bury a great video, and most creators cannot write expert-level titles for every upload.</a:t>
            </a:r>
            <a:endParaRPr lang="en-US" sz="20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Existing tools and the research gap</a:t>
            </a:r>
            <a:endParaRPr lang="en-US" sz="3400" dirty="0"/>
          </a:p>
        </p:txBody>
      </p:sp>
      <p:sp>
        <p:nvSpPr>
          <p:cNvPr id="3" name="Text 1"/>
          <p:cNvSpPr txBox="1"/>
          <p:nvPr/>
        </p:nvSpPr>
        <p:spPr>
          <a:xfrm>
            <a:off x="548640" y="1371600"/>
            <a:ext cx="11064240" cy="320040"/>
          </a:xfrm>
          <a:prstGeom prst="rect">
            <a:avLst/>
          </a:prstGeom>
          <a:noFill/>
          <a:ln/>
        </p:spPr>
        <p:txBody>
          <a:bodyPr wrap="square" lIns="0" tIns="0" rIns="0" bIns="0" rtlCol="0" anchor="t"/>
          <a:lstStyle/>
          <a:p>
            <a:pPr marL="0" indent="0" algn="l">
              <a:buNone/>
            </a:pPr>
            <a:r>
              <a:rPr lang="en-US" sz="1200" dirty="0">
                <a:solidFill>
                  <a:schemeClr val="tx2"/>
                </a:solidFill>
              </a:rPr>
              <a:t>Table 3.1: Existing approaches compared with this system</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3154680"/>
        </p:xfrm>
        <a:graphic>
          <a:graphicData uri="http://schemas.openxmlformats.org/drawingml/2006/table">
            <a:tbl>
              <a:tblPr/>
              <a:tblGrid>
                <a:gridCol w="30175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11480">
                <a:tc>
                  <a:txBody>
                    <a:bodyPr/>
                    <a:lstStyle/>
                    <a:p>
                      <a:pPr marL="0" indent="0">
                        <a:buNone/>
                      </a:pPr>
                      <a:r>
                        <a:rPr lang="en-US" sz="1500" b="1" dirty="0">
                          <a:solidFill>
                            <a:srgbClr val="1B1B1F"/>
                          </a:solidFill>
                        </a:rPr>
                        <a:t>Approach</a:t>
                      </a:r>
                      <a:endParaRPr lang="en-US" sz="15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500" b="1" dirty="0">
                          <a:solidFill>
                            <a:srgbClr val="1B1B1F"/>
                          </a:solidFill>
                        </a:rPr>
                        <a:t>Strength</a:t>
                      </a:r>
                      <a:endParaRPr lang="en-US" sz="15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500" b="1" dirty="0">
                          <a:solidFill>
                            <a:srgbClr val="1B1B1F"/>
                          </a:solidFill>
                        </a:rPr>
                        <a:t>Limitation</a:t>
                      </a:r>
                      <a:endParaRPr lang="en-US" sz="15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0"/>
                  </a:ext>
                </a:extLst>
              </a:tr>
              <a:tr h="548640">
                <a:tc>
                  <a:txBody>
                    <a:bodyPr/>
                    <a:lstStyle/>
                    <a:p>
                      <a:pPr marL="0" indent="0">
                        <a:buNone/>
                      </a:pPr>
                      <a:r>
                        <a:rPr lang="en-US" sz="1400" dirty="0">
                          <a:solidFill>
                            <a:srgbClr val="1B1B1F"/>
                          </a:solidFill>
                        </a:rPr>
                        <a:t>Manual expert copywriting</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High quality</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Cannot scale, expensive, inconsistent</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00" dirty="0">
                          <a:solidFill>
                            <a:srgbClr val="1B1B1F"/>
                          </a:solidFill>
                        </a:rPr>
                        <a:t>Generic LLM prompts [9]</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Fast and scalable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Flat titles, no click optimization, may hallucinate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400" dirty="0">
                          <a:solidFill>
                            <a:srgbClr val="1B1B1F"/>
                          </a:solidFill>
                        </a:rPr>
                        <a:t>Analytics tools (TubeBuddy, VidIQ)</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Rich historical data</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Reactive: they show what happened, they do not generate titles</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400" dirty="0">
                          <a:solidFill>
                            <a:srgbClr val="1B1B1F"/>
                          </a:solidFill>
                        </a:rPr>
                        <a:t>Clickbait detectors</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Spot deceptive content</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Detect only, no optimization</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400" b="1" dirty="0">
                          <a:solidFill>
                            <a:srgbClr val="1B1B1F"/>
                          </a:solidFill>
                        </a:rPr>
                        <a:t>This system</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b="1" dirty="0">
                          <a:solidFill>
                            <a:srgbClr val="1B1B1F"/>
                          </a:solidFill>
                        </a:rPr>
                        <a:t>Proactive, optimizes click appeal, checks truth</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b="1" dirty="0">
                          <a:solidFill>
                            <a:srgbClr val="1B1B1F"/>
                          </a:solidFill>
                        </a:rPr>
                        <a:t>Click appeal learned from a proxy, not real CTR</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Gap statement"/>
          <p:cNvSpPr/>
          <p:nvPr/>
        </p:nvSpPr>
        <p:spPr>
          <a:xfrm>
            <a:off x="548640" y="5212080"/>
            <a:ext cx="11064240" cy="914400"/>
          </a:xfrm>
          <a:prstGeom prst="rect">
            <a:avLst/>
          </a:prstGeom>
          <a:solidFill>
            <a:schemeClr val="tx1"/>
          </a:solidFill>
          <a:ln w="12700">
            <a:solidFill>
              <a:schemeClr val="tx1"/>
            </a:solidFill>
            <a:prstDash val="solid"/>
          </a:ln>
        </p:spPr>
        <p:txBody>
          <a:bodyPr/>
          <a:lstStyle/>
          <a:p>
            <a:endParaRPr lang="en-US"/>
          </a:p>
        </p:txBody>
      </p:sp>
      <p:sp>
        <p:nvSpPr>
          <p:cNvPr id="6" name="Text 3"/>
          <p:cNvSpPr txBox="1"/>
          <p:nvPr/>
        </p:nvSpPr>
        <p:spPr>
          <a:xfrm>
            <a:off x="822960" y="5212080"/>
            <a:ext cx="10515600" cy="914400"/>
          </a:xfrm>
          <a:prstGeom prst="rect">
            <a:avLst/>
          </a:prstGeom>
          <a:noFill/>
          <a:ln/>
        </p:spPr>
        <p:txBody>
          <a:bodyPr wrap="square" lIns="0" tIns="0" rIns="0" bIns="0" rtlCol="0" anchor="ctr"/>
          <a:lstStyle/>
          <a:p>
            <a:pPr marL="0" indent="0" algn="l">
              <a:buNone/>
            </a:pPr>
            <a:r>
              <a:rPr lang="en-US" sz="1800" b="1" dirty="0">
                <a:solidFill>
                  <a:schemeClr val="bg1"/>
                </a:solidFill>
              </a:rPr>
              <a:t>The gap: no existing tool optimizes for virality while guaranteeing the title stays truthful. I call this middle ground Generative Ethics.</a:t>
            </a:r>
            <a:endParaRPr lang="en-US" sz="18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What I built: three AI agents in a row</a:t>
            </a:r>
            <a:endParaRPr lang="en-US" sz="3400" dirty="0"/>
          </a:p>
        </p:txBody>
      </p:sp>
      <p:sp>
        <p:nvSpPr>
          <p:cNvPr id="3" name="Flow card Video input"/>
          <p:cNvSpPr/>
          <p:nvPr/>
        </p:nvSpPr>
        <p:spPr>
          <a:xfrm>
            <a:off x="521208" y="1554480"/>
            <a:ext cx="2011680" cy="2743200"/>
          </a:xfrm>
          <a:prstGeom prst="rect">
            <a:avLst/>
          </a:prstGeom>
          <a:solidFill>
            <a:schemeClr val="bg2"/>
          </a:solidFill>
          <a:ln w="12700">
            <a:solidFill>
              <a:schemeClr val="bg2"/>
            </a:solidFill>
            <a:prstDash val="solid"/>
          </a:ln>
        </p:spPr>
        <p:txBody>
          <a:bodyPr/>
          <a:lstStyle/>
          <a:p>
            <a:endParaRPr lang="en-US"/>
          </a:p>
        </p:txBody>
      </p:sp>
      <p:sp>
        <p:nvSpPr>
          <p:cNvPr id="4" name="Video input circle"/>
          <p:cNvSpPr/>
          <p:nvPr/>
        </p:nvSpPr>
        <p:spPr>
          <a:xfrm>
            <a:off x="1161288" y="1783080"/>
            <a:ext cx="731520" cy="731520"/>
          </a:xfrm>
          <a:prstGeom prst="ellipse">
            <a:avLst/>
          </a:prstGeom>
          <a:solidFill>
            <a:schemeClr val="accent4"/>
          </a:solidFill>
          <a:ln w="12700">
            <a:solidFill>
              <a:schemeClr val="accent4"/>
            </a:solidFill>
            <a:prstDash val="solid"/>
          </a:ln>
        </p:spPr>
        <p:txBody>
          <a:bodyPr/>
          <a:lstStyle/>
          <a:p>
            <a:endParaRPr lang="en-US"/>
          </a:p>
        </p:txBody>
      </p:sp>
      <p:pic>
        <p:nvPicPr>
          <p:cNvPr id="5" name="Video input icon" descr="Video input"/>
          <p:cNvPicPr>
            <a:picLocks noChangeAspect="1"/>
          </p:cNvPicPr>
          <p:nvPr/>
        </p:nvPicPr>
        <p:blipFill>
          <a:blip r:embed="rId3"/>
          <a:stretch>
            <a:fillRect/>
          </a:stretch>
        </p:blipFill>
        <p:spPr>
          <a:xfrm>
            <a:off x="1344168" y="1965960"/>
            <a:ext cx="365760" cy="365760"/>
          </a:xfrm>
          <a:prstGeom prst="rect">
            <a:avLst/>
          </a:prstGeom>
        </p:spPr>
      </p:pic>
      <p:sp>
        <p:nvSpPr>
          <p:cNvPr id="6" name="Text 3"/>
          <p:cNvSpPr txBox="1"/>
          <p:nvPr/>
        </p:nvSpPr>
        <p:spPr>
          <a:xfrm>
            <a:off x="658368" y="2697480"/>
            <a:ext cx="1737360" cy="411480"/>
          </a:xfrm>
          <a:prstGeom prst="rect">
            <a:avLst/>
          </a:prstGeom>
          <a:noFill/>
          <a:ln/>
        </p:spPr>
        <p:txBody>
          <a:bodyPr wrap="square" lIns="0" tIns="0" rIns="0" bIns="0" rtlCol="0" anchor="t"/>
          <a:lstStyle/>
          <a:p>
            <a:pPr marL="0" indent="0" algn="ctr">
              <a:buNone/>
            </a:pPr>
            <a:r>
              <a:rPr lang="en-US" sz="2000" b="1" dirty="0">
                <a:solidFill>
                  <a:schemeClr val="tx1"/>
                </a:solidFill>
              </a:rPr>
              <a:t>Video input</a:t>
            </a:r>
            <a:endParaRPr lang="en-US" sz="2000" dirty="0"/>
          </a:p>
        </p:txBody>
      </p:sp>
      <p:sp>
        <p:nvSpPr>
          <p:cNvPr id="7" name="Text 4"/>
          <p:cNvSpPr txBox="1"/>
          <p:nvPr/>
        </p:nvSpPr>
        <p:spPr>
          <a:xfrm>
            <a:off x="658368" y="3200400"/>
            <a:ext cx="1737360" cy="1005840"/>
          </a:xfrm>
          <a:prstGeom prst="rect">
            <a:avLst/>
          </a:prstGeom>
          <a:noFill/>
          <a:ln/>
        </p:spPr>
        <p:txBody>
          <a:bodyPr wrap="square" lIns="0" tIns="0" rIns="0" bIns="0" rtlCol="0" anchor="t"/>
          <a:lstStyle/>
          <a:p>
            <a:pPr marL="0" indent="0" algn="ctr">
              <a:buNone/>
            </a:pPr>
            <a:r>
              <a:rPr lang="en-US" sz="1400" dirty="0">
                <a:solidFill>
                  <a:schemeClr val="tx2"/>
                </a:solidFill>
              </a:rPr>
              <a:t>Transcript or summary, plus the video category</a:t>
            </a:r>
            <a:endParaRPr lang="en-US" sz="1400" dirty="0"/>
          </a:p>
        </p:txBody>
      </p:sp>
      <p:sp>
        <p:nvSpPr>
          <p:cNvPr id="8" name="Arrow 1"/>
          <p:cNvSpPr/>
          <p:nvPr/>
        </p:nvSpPr>
        <p:spPr>
          <a:xfrm>
            <a:off x="2560320" y="2743200"/>
            <a:ext cx="219456" cy="274320"/>
          </a:xfrm>
          <a:prstGeom prst="rightArrow">
            <a:avLst/>
          </a:prstGeom>
          <a:solidFill>
            <a:schemeClr val="accent1"/>
          </a:solidFill>
          <a:ln w="12700">
            <a:solidFill>
              <a:schemeClr val="accent1"/>
            </a:solidFill>
            <a:prstDash val="solid"/>
          </a:ln>
        </p:spPr>
        <p:txBody>
          <a:bodyPr/>
          <a:lstStyle/>
          <a:p>
            <a:endParaRPr lang="en-US"/>
          </a:p>
        </p:txBody>
      </p:sp>
      <p:sp>
        <p:nvSpPr>
          <p:cNvPr id="9" name="Flow card Analyzer"/>
          <p:cNvSpPr/>
          <p:nvPr/>
        </p:nvSpPr>
        <p:spPr>
          <a:xfrm>
            <a:off x="2807208" y="1554480"/>
            <a:ext cx="2011680" cy="2743200"/>
          </a:xfrm>
          <a:prstGeom prst="rect">
            <a:avLst/>
          </a:prstGeom>
          <a:solidFill>
            <a:schemeClr val="bg2"/>
          </a:solidFill>
          <a:ln w="12700">
            <a:solidFill>
              <a:schemeClr val="bg2"/>
            </a:solidFill>
            <a:prstDash val="solid"/>
          </a:ln>
        </p:spPr>
        <p:txBody>
          <a:bodyPr/>
          <a:lstStyle/>
          <a:p>
            <a:endParaRPr lang="en-US"/>
          </a:p>
        </p:txBody>
      </p:sp>
      <p:sp>
        <p:nvSpPr>
          <p:cNvPr id="10" name="Analyzer circle"/>
          <p:cNvSpPr/>
          <p:nvPr/>
        </p:nvSpPr>
        <p:spPr>
          <a:xfrm>
            <a:off x="3447288" y="1783080"/>
            <a:ext cx="731520" cy="731520"/>
          </a:xfrm>
          <a:prstGeom prst="ellipse">
            <a:avLst/>
          </a:prstGeom>
          <a:solidFill>
            <a:schemeClr val="accent6"/>
          </a:solidFill>
          <a:ln w="12700">
            <a:solidFill>
              <a:schemeClr val="accent6"/>
            </a:solidFill>
            <a:prstDash val="solid"/>
          </a:ln>
        </p:spPr>
        <p:txBody>
          <a:bodyPr/>
          <a:lstStyle/>
          <a:p>
            <a:endParaRPr lang="en-US"/>
          </a:p>
        </p:txBody>
      </p:sp>
      <p:pic>
        <p:nvPicPr>
          <p:cNvPr id="11" name="Analyzer icon" descr="Analyzer"/>
          <p:cNvPicPr>
            <a:picLocks noChangeAspect="1"/>
          </p:cNvPicPr>
          <p:nvPr/>
        </p:nvPicPr>
        <p:blipFill>
          <a:blip r:embed="rId4"/>
          <a:stretch>
            <a:fillRect/>
          </a:stretch>
        </p:blipFill>
        <p:spPr>
          <a:xfrm>
            <a:off x="3630168" y="1965960"/>
            <a:ext cx="365760" cy="365760"/>
          </a:xfrm>
          <a:prstGeom prst="rect">
            <a:avLst/>
          </a:prstGeom>
        </p:spPr>
      </p:pic>
      <p:sp>
        <p:nvSpPr>
          <p:cNvPr id="12" name="Text 8"/>
          <p:cNvSpPr txBox="1"/>
          <p:nvPr/>
        </p:nvSpPr>
        <p:spPr>
          <a:xfrm>
            <a:off x="2944368" y="2697480"/>
            <a:ext cx="1737360" cy="411480"/>
          </a:xfrm>
          <a:prstGeom prst="rect">
            <a:avLst/>
          </a:prstGeom>
          <a:noFill/>
          <a:ln/>
        </p:spPr>
        <p:txBody>
          <a:bodyPr wrap="square" lIns="0" tIns="0" rIns="0" bIns="0" rtlCol="0" anchor="t"/>
          <a:lstStyle/>
          <a:p>
            <a:pPr marL="0" indent="0" algn="ctr">
              <a:buNone/>
            </a:pPr>
            <a:r>
              <a:rPr lang="en-US" sz="2000" b="1" dirty="0">
                <a:solidFill>
                  <a:schemeClr val="tx1"/>
                </a:solidFill>
              </a:rPr>
              <a:t>Analyzer</a:t>
            </a:r>
            <a:endParaRPr lang="en-US" sz="2000" dirty="0"/>
          </a:p>
        </p:txBody>
      </p:sp>
      <p:sp>
        <p:nvSpPr>
          <p:cNvPr id="13" name="Text 9"/>
          <p:cNvSpPr txBox="1"/>
          <p:nvPr/>
        </p:nvSpPr>
        <p:spPr>
          <a:xfrm>
            <a:off x="2944368" y="3200400"/>
            <a:ext cx="1737360" cy="1005840"/>
          </a:xfrm>
          <a:prstGeom prst="rect">
            <a:avLst/>
          </a:prstGeom>
          <a:noFill/>
          <a:ln/>
        </p:spPr>
        <p:txBody>
          <a:bodyPr wrap="square" lIns="0" tIns="0" rIns="0" bIns="0" rtlCol="0" anchor="t"/>
          <a:lstStyle/>
          <a:p>
            <a:pPr marL="0" indent="0" algn="ctr">
              <a:buNone/>
            </a:pPr>
            <a:r>
              <a:rPr lang="en-US" sz="1400" dirty="0">
                <a:solidFill>
                  <a:schemeClr val="tx2"/>
                </a:solidFill>
              </a:rPr>
              <a:t>Finds what the video really delivers</a:t>
            </a:r>
            <a:endParaRPr lang="en-US" sz="1400" dirty="0"/>
          </a:p>
        </p:txBody>
      </p:sp>
      <p:sp>
        <p:nvSpPr>
          <p:cNvPr id="14" name="Arrow 2"/>
          <p:cNvSpPr/>
          <p:nvPr/>
        </p:nvSpPr>
        <p:spPr>
          <a:xfrm>
            <a:off x="4846320" y="2743200"/>
            <a:ext cx="219456" cy="274320"/>
          </a:xfrm>
          <a:prstGeom prst="rightArrow">
            <a:avLst/>
          </a:prstGeom>
          <a:solidFill>
            <a:schemeClr val="accent1"/>
          </a:solidFill>
          <a:ln w="12700">
            <a:solidFill>
              <a:schemeClr val="accent1"/>
            </a:solidFill>
            <a:prstDash val="solid"/>
          </a:ln>
        </p:spPr>
        <p:txBody>
          <a:bodyPr/>
          <a:lstStyle/>
          <a:p>
            <a:endParaRPr lang="en-US"/>
          </a:p>
        </p:txBody>
      </p:sp>
      <p:sp>
        <p:nvSpPr>
          <p:cNvPr id="15" name="Flow card Generator"/>
          <p:cNvSpPr/>
          <p:nvPr/>
        </p:nvSpPr>
        <p:spPr>
          <a:xfrm>
            <a:off x="5093208" y="1554480"/>
            <a:ext cx="2011680" cy="2743200"/>
          </a:xfrm>
          <a:prstGeom prst="rect">
            <a:avLst/>
          </a:prstGeom>
          <a:solidFill>
            <a:schemeClr val="bg2"/>
          </a:solidFill>
          <a:ln w="12700">
            <a:solidFill>
              <a:schemeClr val="bg2"/>
            </a:solidFill>
            <a:prstDash val="solid"/>
          </a:ln>
        </p:spPr>
        <p:txBody>
          <a:bodyPr/>
          <a:lstStyle/>
          <a:p>
            <a:endParaRPr lang="en-US"/>
          </a:p>
        </p:txBody>
      </p:sp>
      <p:sp>
        <p:nvSpPr>
          <p:cNvPr id="16" name="Generator circle"/>
          <p:cNvSpPr/>
          <p:nvPr/>
        </p:nvSpPr>
        <p:spPr>
          <a:xfrm>
            <a:off x="5733288" y="1783080"/>
            <a:ext cx="731520" cy="731520"/>
          </a:xfrm>
          <a:prstGeom prst="ellipse">
            <a:avLst/>
          </a:prstGeom>
          <a:solidFill>
            <a:schemeClr val="accent6"/>
          </a:solidFill>
          <a:ln w="12700">
            <a:solidFill>
              <a:schemeClr val="accent6"/>
            </a:solidFill>
            <a:prstDash val="solid"/>
          </a:ln>
        </p:spPr>
        <p:txBody>
          <a:bodyPr/>
          <a:lstStyle/>
          <a:p>
            <a:endParaRPr lang="en-US"/>
          </a:p>
        </p:txBody>
      </p:sp>
      <p:pic>
        <p:nvPicPr>
          <p:cNvPr id="17" name="Generator icon" descr="Generator"/>
          <p:cNvPicPr>
            <a:picLocks noChangeAspect="1"/>
          </p:cNvPicPr>
          <p:nvPr/>
        </p:nvPicPr>
        <p:blipFill>
          <a:blip r:embed="rId5"/>
          <a:stretch>
            <a:fillRect/>
          </a:stretch>
        </p:blipFill>
        <p:spPr>
          <a:xfrm>
            <a:off x="5916168" y="1965960"/>
            <a:ext cx="365760" cy="365760"/>
          </a:xfrm>
          <a:prstGeom prst="rect">
            <a:avLst/>
          </a:prstGeom>
        </p:spPr>
      </p:pic>
      <p:sp>
        <p:nvSpPr>
          <p:cNvPr id="18" name="Text 13"/>
          <p:cNvSpPr txBox="1"/>
          <p:nvPr/>
        </p:nvSpPr>
        <p:spPr>
          <a:xfrm>
            <a:off x="5230368" y="2697480"/>
            <a:ext cx="1737360" cy="411480"/>
          </a:xfrm>
          <a:prstGeom prst="rect">
            <a:avLst/>
          </a:prstGeom>
          <a:noFill/>
          <a:ln/>
        </p:spPr>
        <p:txBody>
          <a:bodyPr wrap="square" lIns="0" tIns="0" rIns="0" bIns="0" rtlCol="0" anchor="t"/>
          <a:lstStyle/>
          <a:p>
            <a:pPr marL="0" indent="0" algn="ctr">
              <a:buNone/>
            </a:pPr>
            <a:r>
              <a:rPr lang="en-US" sz="2000" b="1" dirty="0">
                <a:solidFill>
                  <a:schemeClr val="tx1"/>
                </a:solidFill>
              </a:rPr>
              <a:t>Generator</a:t>
            </a:r>
            <a:endParaRPr lang="en-US" sz="2000" dirty="0"/>
          </a:p>
        </p:txBody>
      </p:sp>
      <p:sp>
        <p:nvSpPr>
          <p:cNvPr id="19" name="Text 14"/>
          <p:cNvSpPr txBox="1"/>
          <p:nvPr/>
        </p:nvSpPr>
        <p:spPr>
          <a:xfrm>
            <a:off x="5230368" y="3200400"/>
            <a:ext cx="1737360" cy="1005840"/>
          </a:xfrm>
          <a:prstGeom prst="rect">
            <a:avLst/>
          </a:prstGeom>
          <a:noFill/>
          <a:ln/>
        </p:spPr>
        <p:txBody>
          <a:bodyPr wrap="square" lIns="0" tIns="0" rIns="0" bIns="0" rtlCol="0" anchor="t"/>
          <a:lstStyle/>
          <a:p>
            <a:pPr marL="0" indent="0" algn="ctr">
              <a:buNone/>
            </a:pPr>
            <a:r>
              <a:rPr lang="en-US" sz="1400" dirty="0">
                <a:solidFill>
                  <a:schemeClr val="tx2"/>
                </a:solidFill>
              </a:rPr>
              <a:t>Writes 5 titles, each with a different hook</a:t>
            </a:r>
            <a:endParaRPr lang="en-US" sz="1400" dirty="0"/>
          </a:p>
        </p:txBody>
      </p:sp>
      <p:sp>
        <p:nvSpPr>
          <p:cNvPr id="20" name="Arrow 3"/>
          <p:cNvSpPr/>
          <p:nvPr/>
        </p:nvSpPr>
        <p:spPr>
          <a:xfrm>
            <a:off x="7132320" y="2743200"/>
            <a:ext cx="219456" cy="274320"/>
          </a:xfrm>
          <a:prstGeom prst="rightArrow">
            <a:avLst/>
          </a:prstGeom>
          <a:solidFill>
            <a:schemeClr val="accent1"/>
          </a:solidFill>
          <a:ln w="12700">
            <a:solidFill>
              <a:schemeClr val="accent1"/>
            </a:solidFill>
            <a:prstDash val="solid"/>
          </a:ln>
        </p:spPr>
        <p:txBody>
          <a:bodyPr/>
          <a:lstStyle/>
          <a:p>
            <a:endParaRPr lang="en-US"/>
          </a:p>
        </p:txBody>
      </p:sp>
      <p:sp>
        <p:nvSpPr>
          <p:cNvPr id="21" name="Flow card Critic"/>
          <p:cNvSpPr/>
          <p:nvPr/>
        </p:nvSpPr>
        <p:spPr>
          <a:xfrm>
            <a:off x="7379208" y="1554480"/>
            <a:ext cx="2011680" cy="2743200"/>
          </a:xfrm>
          <a:prstGeom prst="rect">
            <a:avLst/>
          </a:prstGeom>
          <a:solidFill>
            <a:schemeClr val="bg2"/>
          </a:solidFill>
          <a:ln w="12700">
            <a:solidFill>
              <a:schemeClr val="bg2"/>
            </a:solidFill>
            <a:prstDash val="solid"/>
          </a:ln>
        </p:spPr>
        <p:txBody>
          <a:bodyPr/>
          <a:lstStyle/>
          <a:p>
            <a:endParaRPr lang="en-US"/>
          </a:p>
        </p:txBody>
      </p:sp>
      <p:sp>
        <p:nvSpPr>
          <p:cNvPr id="22" name="Critic circle"/>
          <p:cNvSpPr/>
          <p:nvPr/>
        </p:nvSpPr>
        <p:spPr>
          <a:xfrm>
            <a:off x="8019288" y="1783080"/>
            <a:ext cx="731520" cy="731520"/>
          </a:xfrm>
          <a:prstGeom prst="ellipse">
            <a:avLst/>
          </a:prstGeom>
          <a:solidFill>
            <a:schemeClr val="accent6"/>
          </a:solidFill>
          <a:ln w="12700">
            <a:solidFill>
              <a:schemeClr val="accent6"/>
            </a:solidFill>
            <a:prstDash val="solid"/>
          </a:ln>
        </p:spPr>
        <p:txBody>
          <a:bodyPr/>
          <a:lstStyle/>
          <a:p>
            <a:endParaRPr lang="en-US"/>
          </a:p>
        </p:txBody>
      </p:sp>
      <p:pic>
        <p:nvPicPr>
          <p:cNvPr id="23" name="Critic icon" descr="Critic"/>
          <p:cNvPicPr>
            <a:picLocks noChangeAspect="1"/>
          </p:cNvPicPr>
          <p:nvPr/>
        </p:nvPicPr>
        <p:blipFill>
          <a:blip r:embed="rId6"/>
          <a:stretch>
            <a:fillRect/>
          </a:stretch>
        </p:blipFill>
        <p:spPr>
          <a:xfrm>
            <a:off x="8202168" y="1965960"/>
            <a:ext cx="365760" cy="365760"/>
          </a:xfrm>
          <a:prstGeom prst="rect">
            <a:avLst/>
          </a:prstGeom>
        </p:spPr>
      </p:pic>
      <p:sp>
        <p:nvSpPr>
          <p:cNvPr id="24" name="Text 18"/>
          <p:cNvSpPr txBox="1"/>
          <p:nvPr/>
        </p:nvSpPr>
        <p:spPr>
          <a:xfrm>
            <a:off x="7516368" y="2697480"/>
            <a:ext cx="1737360" cy="411480"/>
          </a:xfrm>
          <a:prstGeom prst="rect">
            <a:avLst/>
          </a:prstGeom>
          <a:noFill/>
          <a:ln/>
        </p:spPr>
        <p:txBody>
          <a:bodyPr wrap="square" lIns="0" tIns="0" rIns="0" bIns="0" rtlCol="0" anchor="t"/>
          <a:lstStyle/>
          <a:p>
            <a:pPr marL="0" indent="0" algn="ctr">
              <a:buNone/>
            </a:pPr>
            <a:r>
              <a:rPr lang="en-US" sz="2000" b="1" dirty="0">
                <a:solidFill>
                  <a:schemeClr val="tx1"/>
                </a:solidFill>
              </a:rPr>
              <a:t>Critic</a:t>
            </a:r>
            <a:endParaRPr lang="en-US" sz="2000" dirty="0"/>
          </a:p>
        </p:txBody>
      </p:sp>
      <p:sp>
        <p:nvSpPr>
          <p:cNvPr id="25" name="Text 19"/>
          <p:cNvSpPr txBox="1"/>
          <p:nvPr/>
        </p:nvSpPr>
        <p:spPr>
          <a:xfrm>
            <a:off x="7516368" y="3200400"/>
            <a:ext cx="1737360" cy="1005840"/>
          </a:xfrm>
          <a:prstGeom prst="rect">
            <a:avLst/>
          </a:prstGeom>
          <a:noFill/>
          <a:ln/>
        </p:spPr>
        <p:txBody>
          <a:bodyPr wrap="square" lIns="0" tIns="0" rIns="0" bIns="0" rtlCol="0" anchor="t"/>
          <a:lstStyle/>
          <a:p>
            <a:pPr marL="0" indent="0" algn="ctr">
              <a:buNone/>
            </a:pPr>
            <a:r>
              <a:rPr lang="en-US" sz="1400" dirty="0">
                <a:solidFill>
                  <a:schemeClr val="tx2"/>
                </a:solidFill>
              </a:rPr>
              <a:t>Scores, checks the truth, and ranks</a:t>
            </a:r>
            <a:endParaRPr lang="en-US" sz="1400" dirty="0"/>
          </a:p>
        </p:txBody>
      </p:sp>
      <p:sp>
        <p:nvSpPr>
          <p:cNvPr id="26" name="Arrow 4"/>
          <p:cNvSpPr/>
          <p:nvPr/>
        </p:nvSpPr>
        <p:spPr>
          <a:xfrm>
            <a:off x="9418320" y="2743200"/>
            <a:ext cx="219456" cy="274320"/>
          </a:xfrm>
          <a:prstGeom prst="rightArrow">
            <a:avLst/>
          </a:prstGeom>
          <a:solidFill>
            <a:schemeClr val="accent1"/>
          </a:solidFill>
          <a:ln w="12700">
            <a:solidFill>
              <a:schemeClr val="accent1"/>
            </a:solidFill>
            <a:prstDash val="solid"/>
          </a:ln>
        </p:spPr>
        <p:txBody>
          <a:bodyPr/>
          <a:lstStyle/>
          <a:p>
            <a:endParaRPr lang="en-US"/>
          </a:p>
        </p:txBody>
      </p:sp>
      <p:sp>
        <p:nvSpPr>
          <p:cNvPr id="27" name="Flow card Best title"/>
          <p:cNvSpPr/>
          <p:nvPr/>
        </p:nvSpPr>
        <p:spPr>
          <a:xfrm>
            <a:off x="9665208" y="1554480"/>
            <a:ext cx="2011680" cy="2743200"/>
          </a:xfrm>
          <a:prstGeom prst="rect">
            <a:avLst/>
          </a:prstGeom>
          <a:solidFill>
            <a:schemeClr val="bg2"/>
          </a:solidFill>
          <a:ln w="12700">
            <a:solidFill>
              <a:schemeClr val="bg2"/>
            </a:solidFill>
            <a:prstDash val="solid"/>
          </a:ln>
        </p:spPr>
        <p:txBody>
          <a:bodyPr/>
          <a:lstStyle/>
          <a:p>
            <a:endParaRPr lang="en-US"/>
          </a:p>
        </p:txBody>
      </p:sp>
      <p:sp>
        <p:nvSpPr>
          <p:cNvPr id="28" name="Best title circle"/>
          <p:cNvSpPr/>
          <p:nvPr/>
        </p:nvSpPr>
        <p:spPr>
          <a:xfrm>
            <a:off x="10305288" y="178308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29" name="Best title icon" descr="Best title"/>
          <p:cNvPicPr>
            <a:picLocks noChangeAspect="1"/>
          </p:cNvPicPr>
          <p:nvPr/>
        </p:nvPicPr>
        <p:blipFill>
          <a:blip r:embed="rId7"/>
          <a:stretch>
            <a:fillRect/>
          </a:stretch>
        </p:blipFill>
        <p:spPr>
          <a:xfrm>
            <a:off x="10488168" y="1965960"/>
            <a:ext cx="365760" cy="365760"/>
          </a:xfrm>
          <a:prstGeom prst="rect">
            <a:avLst/>
          </a:prstGeom>
        </p:spPr>
      </p:pic>
      <p:sp>
        <p:nvSpPr>
          <p:cNvPr id="30" name="Text 23"/>
          <p:cNvSpPr txBox="1"/>
          <p:nvPr/>
        </p:nvSpPr>
        <p:spPr>
          <a:xfrm>
            <a:off x="9802368" y="2697480"/>
            <a:ext cx="1737360" cy="411480"/>
          </a:xfrm>
          <a:prstGeom prst="rect">
            <a:avLst/>
          </a:prstGeom>
          <a:noFill/>
          <a:ln/>
        </p:spPr>
        <p:txBody>
          <a:bodyPr wrap="square" lIns="0" tIns="0" rIns="0" bIns="0" rtlCol="0" anchor="t"/>
          <a:lstStyle/>
          <a:p>
            <a:pPr marL="0" indent="0" algn="ctr">
              <a:buNone/>
            </a:pPr>
            <a:r>
              <a:rPr lang="en-US" sz="2000" b="1" dirty="0">
                <a:solidFill>
                  <a:schemeClr val="tx1"/>
                </a:solidFill>
              </a:rPr>
              <a:t>Best title</a:t>
            </a:r>
            <a:endParaRPr lang="en-US" sz="2000" dirty="0"/>
          </a:p>
        </p:txBody>
      </p:sp>
      <p:sp>
        <p:nvSpPr>
          <p:cNvPr id="31" name="Text 24"/>
          <p:cNvSpPr txBox="1"/>
          <p:nvPr/>
        </p:nvSpPr>
        <p:spPr>
          <a:xfrm>
            <a:off x="9802368" y="3200400"/>
            <a:ext cx="1737360" cy="1005840"/>
          </a:xfrm>
          <a:prstGeom prst="rect">
            <a:avLst/>
          </a:prstGeom>
          <a:noFill/>
          <a:ln/>
        </p:spPr>
        <p:txBody>
          <a:bodyPr wrap="square" lIns="0" tIns="0" rIns="0" bIns="0" rtlCol="0" anchor="t"/>
          <a:lstStyle/>
          <a:p>
            <a:pPr marL="0" indent="0" algn="ctr">
              <a:buNone/>
            </a:pPr>
            <a:r>
              <a:rPr lang="en-US" sz="1400" dirty="0">
                <a:solidFill>
                  <a:schemeClr val="tx2"/>
                </a:solidFill>
              </a:rPr>
              <a:t>Top title, ranked list, and a rejection log</a:t>
            </a:r>
            <a:endParaRPr lang="en-US" sz="1400" dirty="0"/>
          </a:p>
        </p:txBody>
      </p:sp>
      <p:sp>
        <p:nvSpPr>
          <p:cNvPr id="32" name="API banner"/>
          <p:cNvSpPr/>
          <p:nvPr/>
        </p:nvSpPr>
        <p:spPr>
          <a:xfrm>
            <a:off x="548640" y="4663440"/>
            <a:ext cx="11064240" cy="1463040"/>
          </a:xfrm>
          <a:prstGeom prst="rect">
            <a:avLst/>
          </a:prstGeom>
          <a:solidFill>
            <a:schemeClr val="tx1"/>
          </a:solidFill>
          <a:ln w="12700">
            <a:solidFill>
              <a:schemeClr val="tx1"/>
            </a:solidFill>
            <a:prstDash val="solid"/>
          </a:ln>
        </p:spPr>
        <p:txBody>
          <a:bodyPr/>
          <a:lstStyle/>
          <a:p>
            <a:endParaRPr lang="en-US"/>
          </a:p>
        </p:txBody>
      </p:sp>
      <p:sp>
        <p:nvSpPr>
          <p:cNvPr id="33" name="Text 26"/>
          <p:cNvSpPr txBox="1"/>
          <p:nvPr/>
        </p:nvSpPr>
        <p:spPr>
          <a:xfrm>
            <a:off x="868680" y="4846320"/>
            <a:ext cx="4572000" cy="365760"/>
          </a:xfrm>
          <a:prstGeom prst="rect">
            <a:avLst/>
          </a:prstGeom>
          <a:noFill/>
          <a:ln/>
        </p:spPr>
        <p:txBody>
          <a:bodyPr wrap="square" lIns="0" tIns="0" rIns="0" bIns="0" rtlCol="0" anchor="t"/>
          <a:lstStyle/>
          <a:p>
            <a:pPr marL="0" indent="0" algn="l">
              <a:buNone/>
            </a:pPr>
            <a:r>
              <a:rPr lang="en-US" sz="2000" b="1" dirty="0">
                <a:solidFill>
                  <a:schemeClr val="bg1"/>
                </a:solidFill>
              </a:rPr>
              <a:t>One simple API door</a:t>
            </a:r>
            <a:endParaRPr lang="en-US" sz="2000" dirty="0"/>
          </a:p>
        </p:txBody>
      </p:sp>
      <p:sp>
        <p:nvSpPr>
          <p:cNvPr id="34" name="Text 27"/>
          <p:cNvSpPr txBox="1"/>
          <p:nvPr/>
        </p:nvSpPr>
        <p:spPr>
          <a:xfrm>
            <a:off x="868680" y="5303520"/>
            <a:ext cx="6400800" cy="731520"/>
          </a:xfrm>
          <a:prstGeom prst="rect">
            <a:avLst/>
          </a:prstGeom>
          <a:noFill/>
          <a:ln/>
        </p:spPr>
        <p:txBody>
          <a:bodyPr wrap="square" lIns="0" tIns="0" rIns="0" bIns="0" rtlCol="0" anchor="t"/>
          <a:lstStyle/>
          <a:p>
            <a:pPr marL="0" indent="0" algn="l">
              <a:buNone/>
            </a:pPr>
            <a:r>
              <a:rPr lang="en-US" sz="1500" dirty="0">
                <a:solidFill>
                  <a:schemeClr val="bg2"/>
                </a:solidFill>
              </a:rPr>
              <a:t>The user sends the video text to the API (application programming interface) at POST /generate-titles. All the complexity stays hidden behind it (the Facade pattern).</a:t>
            </a:r>
            <a:endParaRPr lang="en-US" sz="1500" dirty="0"/>
          </a:p>
        </p:txBody>
      </p:sp>
      <p:sp>
        <p:nvSpPr>
          <p:cNvPr id="35" name="Text 28"/>
          <p:cNvSpPr txBox="1"/>
          <p:nvPr/>
        </p:nvSpPr>
        <p:spPr>
          <a:xfrm>
            <a:off x="7498080" y="5303520"/>
            <a:ext cx="4023360" cy="731520"/>
          </a:xfrm>
          <a:prstGeom prst="rect">
            <a:avLst/>
          </a:prstGeom>
          <a:noFill/>
          <a:ln/>
        </p:spPr>
        <p:txBody>
          <a:bodyPr wrap="square" lIns="0" tIns="0" rIns="0" bIns="0" rtlCol="0" anchor="t"/>
          <a:lstStyle/>
          <a:p>
            <a:pPr marL="0" indent="0" algn="l">
              <a:buNone/>
            </a:pPr>
            <a:r>
              <a:rPr lang="en-US" sz="1400" b="1" dirty="0">
                <a:solidFill>
                  <a:schemeClr val="bg1"/>
                </a:solidFill>
              </a:rPr>
              <a:t>Built with</a:t>
            </a:r>
            <a:endParaRPr lang="en-US" sz="1400" dirty="0"/>
          </a:p>
          <a:p>
            <a:pPr marL="0" indent="0" algn="l">
              <a:buNone/>
            </a:pPr>
            <a:r>
              <a:rPr lang="en-US" sz="1400" dirty="0">
                <a:solidFill>
                  <a:schemeClr val="bg1"/>
                </a:solidFill>
              </a:rPr>
              <a:t>GPT-4o, LangGraph [8], FastAPI, scikit‑learn</a:t>
            </a:r>
            <a:endParaRPr lang="en-US" sz="1400" dirty="0"/>
          </a:p>
        </p:txBody>
      </p:sp>
      <p:sp>
        <p:nvSpPr>
          <p:cNvPr id="36"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Research questions and method</a:t>
            </a:r>
            <a:endParaRPr lang="en-US" sz="3400" dirty="0"/>
          </a:p>
        </p:txBody>
      </p:sp>
      <p:sp>
        <p:nvSpPr>
          <p:cNvPr id="3" name="RQ number 1"/>
          <p:cNvSpPr/>
          <p:nvPr/>
        </p:nvSpPr>
        <p:spPr>
          <a:xfrm>
            <a:off x="548640" y="1572768"/>
            <a:ext cx="685800" cy="685800"/>
          </a:xfrm>
          <a:prstGeom prst="ellipse">
            <a:avLst/>
          </a:prstGeom>
          <a:solidFill>
            <a:schemeClr val="accent1"/>
          </a:solidFill>
          <a:ln w="12700">
            <a:solidFill>
              <a:schemeClr val="accent1"/>
            </a:solidFill>
            <a:prstDash val="solid"/>
          </a:ln>
        </p:spPr>
        <p:txBody>
          <a:bodyPr/>
          <a:lstStyle/>
          <a:p>
            <a:endParaRPr lang="en-US"/>
          </a:p>
        </p:txBody>
      </p:sp>
      <p:sp>
        <p:nvSpPr>
          <p:cNvPr id="4" name="Text 2"/>
          <p:cNvSpPr txBox="1"/>
          <p:nvPr/>
        </p:nvSpPr>
        <p:spPr>
          <a:xfrm>
            <a:off x="548640" y="1572768"/>
            <a:ext cx="685800" cy="685800"/>
          </a:xfrm>
          <a:prstGeom prst="rect">
            <a:avLst/>
          </a:prstGeom>
          <a:noFill/>
          <a:ln/>
        </p:spPr>
        <p:txBody>
          <a:bodyPr wrap="square" lIns="0" tIns="0" rIns="0" bIns="0" rtlCol="0" anchor="ctr"/>
          <a:lstStyle/>
          <a:p>
            <a:pPr marL="0" indent="0" algn="ctr">
              <a:buNone/>
            </a:pPr>
            <a:r>
              <a:rPr lang="en-US" sz="1600" b="1" dirty="0">
                <a:solidFill>
                  <a:schemeClr val="bg1"/>
                </a:solidFill>
              </a:rPr>
              <a:t>RQ1</a:t>
            </a:r>
            <a:endParaRPr lang="en-US" sz="1600" dirty="0"/>
          </a:p>
        </p:txBody>
      </p:sp>
      <p:sp>
        <p:nvSpPr>
          <p:cNvPr id="5" name="Text 3"/>
          <p:cNvSpPr txBox="1"/>
          <p:nvPr/>
        </p:nvSpPr>
        <p:spPr>
          <a:xfrm>
            <a:off x="1463040" y="1463040"/>
            <a:ext cx="5852160" cy="914400"/>
          </a:xfrm>
          <a:prstGeom prst="rect">
            <a:avLst/>
          </a:prstGeom>
          <a:noFill/>
          <a:ln/>
        </p:spPr>
        <p:txBody>
          <a:bodyPr wrap="square" lIns="0" tIns="0" rIns="0" bIns="0" rtlCol="0" anchor="ctr"/>
          <a:lstStyle/>
          <a:p>
            <a:pPr marL="0" indent="0" algn="l">
              <a:buNone/>
            </a:pPr>
            <a:r>
              <a:rPr lang="en-US" sz="1800" dirty="0">
                <a:solidFill>
                  <a:schemeClr val="tx1"/>
                </a:solidFill>
              </a:rPr>
              <a:t>Can the psychology of viral titles be turned into prompts for an AI?</a:t>
            </a:r>
            <a:endParaRPr lang="en-US" sz="1800" dirty="0"/>
          </a:p>
        </p:txBody>
      </p:sp>
      <p:sp>
        <p:nvSpPr>
          <p:cNvPr id="6" name="RQ number 2"/>
          <p:cNvSpPr/>
          <p:nvPr/>
        </p:nvSpPr>
        <p:spPr>
          <a:xfrm>
            <a:off x="548640" y="2743200"/>
            <a:ext cx="685800" cy="685800"/>
          </a:xfrm>
          <a:prstGeom prst="ellipse">
            <a:avLst/>
          </a:prstGeom>
          <a:solidFill>
            <a:schemeClr val="accent1"/>
          </a:solidFill>
          <a:ln w="12700">
            <a:solidFill>
              <a:schemeClr val="accent1"/>
            </a:solidFill>
            <a:prstDash val="solid"/>
          </a:ln>
        </p:spPr>
        <p:txBody>
          <a:bodyPr/>
          <a:lstStyle/>
          <a:p>
            <a:endParaRPr lang="en-US"/>
          </a:p>
        </p:txBody>
      </p:sp>
      <p:sp>
        <p:nvSpPr>
          <p:cNvPr id="7" name="Text 5"/>
          <p:cNvSpPr txBox="1"/>
          <p:nvPr/>
        </p:nvSpPr>
        <p:spPr>
          <a:xfrm>
            <a:off x="548640" y="2743200"/>
            <a:ext cx="685800" cy="685800"/>
          </a:xfrm>
          <a:prstGeom prst="rect">
            <a:avLst/>
          </a:prstGeom>
          <a:noFill/>
          <a:ln/>
        </p:spPr>
        <p:txBody>
          <a:bodyPr wrap="square" lIns="0" tIns="0" rIns="0" bIns="0" rtlCol="0" anchor="ctr"/>
          <a:lstStyle/>
          <a:p>
            <a:pPr marL="0" indent="0" algn="ctr">
              <a:buNone/>
            </a:pPr>
            <a:r>
              <a:rPr lang="en-US" sz="1600" b="1" dirty="0">
                <a:solidFill>
                  <a:schemeClr val="bg1"/>
                </a:solidFill>
              </a:rPr>
              <a:t>RQ2</a:t>
            </a:r>
            <a:endParaRPr lang="en-US" sz="1600" dirty="0"/>
          </a:p>
        </p:txBody>
      </p:sp>
      <p:sp>
        <p:nvSpPr>
          <p:cNvPr id="8" name="Text 6"/>
          <p:cNvSpPr txBox="1"/>
          <p:nvPr/>
        </p:nvSpPr>
        <p:spPr>
          <a:xfrm>
            <a:off x="1463040" y="2633472"/>
            <a:ext cx="5852160" cy="914400"/>
          </a:xfrm>
          <a:prstGeom prst="rect">
            <a:avLst/>
          </a:prstGeom>
          <a:noFill/>
          <a:ln/>
        </p:spPr>
        <p:txBody>
          <a:bodyPr wrap="square" lIns="0" tIns="0" rIns="0" bIns="0" rtlCol="0" anchor="ctr"/>
          <a:lstStyle/>
          <a:p>
            <a:pPr marL="0" indent="0" algn="l">
              <a:buNone/>
            </a:pPr>
            <a:r>
              <a:rPr lang="en-US" sz="1800" dirty="0">
                <a:solidFill>
                  <a:schemeClr val="tx1"/>
                </a:solidFill>
              </a:rPr>
              <a:t>What system design keeps titles both engaging and truthful?</a:t>
            </a:r>
            <a:endParaRPr lang="en-US" sz="1800" dirty="0"/>
          </a:p>
        </p:txBody>
      </p:sp>
      <p:sp>
        <p:nvSpPr>
          <p:cNvPr id="9" name="RQ number 3"/>
          <p:cNvSpPr/>
          <p:nvPr/>
        </p:nvSpPr>
        <p:spPr>
          <a:xfrm>
            <a:off x="548640" y="3913632"/>
            <a:ext cx="685800" cy="685800"/>
          </a:xfrm>
          <a:prstGeom prst="ellipse">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548640" y="3913632"/>
            <a:ext cx="685800" cy="685800"/>
          </a:xfrm>
          <a:prstGeom prst="rect">
            <a:avLst/>
          </a:prstGeom>
          <a:noFill/>
          <a:ln/>
        </p:spPr>
        <p:txBody>
          <a:bodyPr wrap="square" lIns="0" tIns="0" rIns="0" bIns="0" rtlCol="0" anchor="ctr"/>
          <a:lstStyle/>
          <a:p>
            <a:pPr marL="0" indent="0" algn="ctr">
              <a:buNone/>
            </a:pPr>
            <a:r>
              <a:rPr lang="en-US" sz="1600" b="1" dirty="0">
                <a:solidFill>
                  <a:schemeClr val="bg1"/>
                </a:solidFill>
              </a:rPr>
              <a:t>RQ3</a:t>
            </a:r>
            <a:endParaRPr lang="en-US" sz="1600" dirty="0"/>
          </a:p>
        </p:txBody>
      </p:sp>
      <p:sp>
        <p:nvSpPr>
          <p:cNvPr id="11" name="Text 9"/>
          <p:cNvSpPr txBox="1"/>
          <p:nvPr/>
        </p:nvSpPr>
        <p:spPr>
          <a:xfrm>
            <a:off x="1463040" y="3803904"/>
            <a:ext cx="5852160" cy="914400"/>
          </a:xfrm>
          <a:prstGeom prst="rect">
            <a:avLst/>
          </a:prstGeom>
          <a:noFill/>
          <a:ln/>
        </p:spPr>
        <p:txBody>
          <a:bodyPr wrap="square" lIns="0" tIns="0" rIns="0" bIns="0" rtlCol="0" anchor="ctr"/>
          <a:lstStyle/>
          <a:p>
            <a:pPr marL="0" indent="0" algn="l">
              <a:buNone/>
            </a:pPr>
            <a:r>
              <a:rPr lang="en-US" sz="1800" dirty="0">
                <a:solidFill>
                  <a:schemeClr val="tx1"/>
                </a:solidFill>
              </a:rPr>
              <a:t>Do these titles beat human-style titles and plain AI titles?</a:t>
            </a:r>
            <a:endParaRPr lang="en-US" sz="1800" dirty="0"/>
          </a:p>
        </p:txBody>
      </p:sp>
      <p:sp>
        <p:nvSpPr>
          <p:cNvPr id="12" name="RQ number 4"/>
          <p:cNvSpPr/>
          <p:nvPr/>
        </p:nvSpPr>
        <p:spPr>
          <a:xfrm>
            <a:off x="548640" y="5084064"/>
            <a:ext cx="685800" cy="685800"/>
          </a:xfrm>
          <a:prstGeom prst="ellipse">
            <a:avLst/>
          </a:prstGeom>
          <a:solidFill>
            <a:schemeClr val="accent1"/>
          </a:solidFill>
          <a:ln w="12700">
            <a:solidFill>
              <a:schemeClr val="accent1"/>
            </a:solidFill>
            <a:prstDash val="solid"/>
          </a:ln>
        </p:spPr>
        <p:txBody>
          <a:bodyPr/>
          <a:lstStyle/>
          <a:p>
            <a:endParaRPr lang="en-US"/>
          </a:p>
        </p:txBody>
      </p:sp>
      <p:sp>
        <p:nvSpPr>
          <p:cNvPr id="13" name="Text 11"/>
          <p:cNvSpPr txBox="1"/>
          <p:nvPr/>
        </p:nvSpPr>
        <p:spPr>
          <a:xfrm>
            <a:off x="548640" y="5084064"/>
            <a:ext cx="685800" cy="685800"/>
          </a:xfrm>
          <a:prstGeom prst="rect">
            <a:avLst/>
          </a:prstGeom>
          <a:noFill/>
          <a:ln/>
        </p:spPr>
        <p:txBody>
          <a:bodyPr wrap="square" lIns="0" tIns="0" rIns="0" bIns="0" rtlCol="0" anchor="ctr"/>
          <a:lstStyle/>
          <a:p>
            <a:pPr marL="0" indent="0" algn="ctr">
              <a:buNone/>
            </a:pPr>
            <a:r>
              <a:rPr lang="en-US" sz="1600" b="1" dirty="0">
                <a:solidFill>
                  <a:schemeClr val="bg1"/>
                </a:solidFill>
              </a:rPr>
              <a:t>RQ4</a:t>
            </a:r>
            <a:endParaRPr lang="en-US" sz="1600" dirty="0"/>
          </a:p>
        </p:txBody>
      </p:sp>
      <p:sp>
        <p:nvSpPr>
          <p:cNvPr id="14" name="Text 12"/>
          <p:cNvSpPr txBox="1"/>
          <p:nvPr/>
        </p:nvSpPr>
        <p:spPr>
          <a:xfrm>
            <a:off x="1463040" y="4974336"/>
            <a:ext cx="5852160" cy="914400"/>
          </a:xfrm>
          <a:prstGeom prst="rect">
            <a:avLst/>
          </a:prstGeom>
          <a:noFill/>
          <a:ln/>
        </p:spPr>
        <p:txBody>
          <a:bodyPr wrap="square" lIns="0" tIns="0" rIns="0" bIns="0" rtlCol="0" anchor="ctr"/>
          <a:lstStyle/>
          <a:p>
            <a:pPr marL="0" indent="0" algn="l">
              <a:buNone/>
            </a:pPr>
            <a:r>
              <a:rPr lang="en-US" sz="1800" dirty="0">
                <a:solidFill>
                  <a:schemeClr val="tx1"/>
                </a:solidFill>
              </a:rPr>
              <a:t>Can an AI judge score titles reliably against a marketing rubric?</a:t>
            </a:r>
            <a:endParaRPr lang="en-US" sz="1800" dirty="0"/>
          </a:p>
        </p:txBody>
      </p:sp>
      <p:sp>
        <p:nvSpPr>
          <p:cNvPr id="15" name="Method card"/>
          <p:cNvSpPr/>
          <p:nvPr/>
        </p:nvSpPr>
        <p:spPr>
          <a:xfrm>
            <a:off x="7772400" y="1463040"/>
            <a:ext cx="3840480" cy="4526280"/>
          </a:xfrm>
          <a:prstGeom prst="rect">
            <a:avLst/>
          </a:prstGeom>
          <a:solidFill>
            <a:schemeClr val="tx1"/>
          </a:solidFill>
          <a:ln w="12700">
            <a:solidFill>
              <a:schemeClr val="tx1"/>
            </a:solidFill>
            <a:prstDash val="solid"/>
          </a:ln>
        </p:spPr>
        <p:txBody>
          <a:bodyPr/>
          <a:lstStyle/>
          <a:p>
            <a:endParaRPr lang="en-US"/>
          </a:p>
        </p:txBody>
      </p:sp>
      <p:sp>
        <p:nvSpPr>
          <p:cNvPr id="16" name="Text 14"/>
          <p:cNvSpPr txBox="1"/>
          <p:nvPr/>
        </p:nvSpPr>
        <p:spPr>
          <a:xfrm>
            <a:off x="8092440" y="1691640"/>
            <a:ext cx="3200400" cy="365760"/>
          </a:xfrm>
          <a:prstGeom prst="rect">
            <a:avLst/>
          </a:prstGeom>
          <a:noFill/>
          <a:ln/>
        </p:spPr>
        <p:txBody>
          <a:bodyPr wrap="square" lIns="0" tIns="0" rIns="0" bIns="0" rtlCol="0" anchor="t"/>
          <a:lstStyle/>
          <a:p>
            <a:pPr marL="0" indent="0" algn="l">
              <a:buNone/>
            </a:pPr>
            <a:r>
              <a:rPr lang="en-US" sz="1400" b="1" dirty="0">
                <a:solidFill>
                  <a:schemeClr val="accent3"/>
                </a:solidFill>
              </a:rPr>
              <a:t>How I did the research</a:t>
            </a:r>
            <a:endParaRPr lang="en-US" sz="1400" dirty="0"/>
          </a:p>
        </p:txBody>
      </p:sp>
      <p:sp>
        <p:nvSpPr>
          <p:cNvPr id="17" name="Text 15"/>
          <p:cNvSpPr txBox="1"/>
          <p:nvPr/>
        </p:nvSpPr>
        <p:spPr>
          <a:xfrm>
            <a:off x="8092440" y="2103120"/>
            <a:ext cx="3200400" cy="822960"/>
          </a:xfrm>
          <a:prstGeom prst="rect">
            <a:avLst/>
          </a:prstGeom>
          <a:noFill/>
          <a:ln/>
        </p:spPr>
        <p:txBody>
          <a:bodyPr wrap="square" lIns="0" tIns="0" rIns="0" bIns="0" rtlCol="0" anchor="t"/>
          <a:lstStyle/>
          <a:p>
            <a:pPr marL="0" indent="0" algn="l">
              <a:buNone/>
            </a:pPr>
            <a:r>
              <a:rPr lang="en-US" sz="2600" b="1" dirty="0">
                <a:solidFill>
                  <a:schemeClr val="bg1"/>
                </a:solidFill>
                <a:latin typeface="Times New Roman" pitchFamily="34" charset="0"/>
                <a:ea typeface="Times New Roman" pitchFamily="34" charset="-122"/>
                <a:cs typeface="Times New Roman" pitchFamily="34" charset="-120"/>
              </a:rPr>
              <a:t>Design Science Research (DSR)</a:t>
            </a:r>
            <a:endParaRPr lang="en-US" sz="2600" dirty="0"/>
          </a:p>
        </p:txBody>
      </p:sp>
      <p:sp>
        <p:nvSpPr>
          <p:cNvPr id="18" name="Text 16"/>
          <p:cNvSpPr txBox="1"/>
          <p:nvPr/>
        </p:nvSpPr>
        <p:spPr>
          <a:xfrm>
            <a:off x="8092440" y="3017520"/>
            <a:ext cx="3200400" cy="822960"/>
          </a:xfrm>
          <a:prstGeom prst="rect">
            <a:avLst/>
          </a:prstGeom>
          <a:noFill/>
          <a:ln/>
        </p:spPr>
        <p:txBody>
          <a:bodyPr wrap="square" lIns="0" tIns="0" rIns="0" bIns="0" rtlCol="0" anchor="t"/>
          <a:lstStyle/>
          <a:p>
            <a:pPr marL="0" indent="0" algn="l">
              <a:buNone/>
            </a:pPr>
            <a:r>
              <a:rPr lang="en-US" sz="1600" dirty="0">
                <a:solidFill>
                  <a:schemeClr val="bg2"/>
                </a:solidFill>
              </a:rPr>
              <a:t>Build the system, test it, and learn from the results.</a:t>
            </a:r>
            <a:endParaRPr lang="en-US" sz="1600" dirty="0"/>
          </a:p>
        </p:txBody>
      </p:sp>
      <p:sp>
        <p:nvSpPr>
          <p:cNvPr id="19" name="Text 17"/>
          <p:cNvSpPr txBox="1"/>
          <p:nvPr/>
        </p:nvSpPr>
        <p:spPr>
          <a:xfrm>
            <a:off x="8092440" y="4023360"/>
            <a:ext cx="3200400" cy="1371600"/>
          </a:xfrm>
          <a:prstGeom prst="rect">
            <a:avLst/>
          </a:prstGeom>
          <a:noFill/>
          <a:ln/>
        </p:spPr>
        <p:txBody>
          <a:bodyPr wrap="square" lIns="0" tIns="0" rIns="0" bIns="0" rtlCol="0" anchor="t"/>
          <a:lstStyle/>
          <a:p>
            <a:pPr marL="0" indent="0" algn="l">
              <a:buNone/>
            </a:pPr>
            <a:r>
              <a:rPr lang="en-US" sz="1500" dirty="0">
                <a:solidFill>
                  <a:schemeClr val="bg2"/>
                </a:solidFill>
              </a:rPr>
              <a:t>Peffers' six steps [1]: problem, objectives, design, demonstration, evaluation, communication.</a:t>
            </a:r>
            <a:endParaRPr lang="en-US" sz="15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What each agent does</a:t>
            </a:r>
            <a:endParaRPr lang="en-US" sz="3400" dirty="0"/>
          </a:p>
        </p:txBody>
      </p:sp>
      <p:sp>
        <p:nvSpPr>
          <p:cNvPr id="3" name="Agent card Analyzer"/>
          <p:cNvSpPr/>
          <p:nvPr/>
        </p:nvSpPr>
        <p:spPr>
          <a:xfrm>
            <a:off x="548640" y="1463040"/>
            <a:ext cx="3520440" cy="4663440"/>
          </a:xfrm>
          <a:prstGeom prst="rect">
            <a:avLst/>
          </a:prstGeom>
          <a:solidFill>
            <a:schemeClr val="bg2"/>
          </a:solidFill>
          <a:ln w="12700">
            <a:solidFill>
              <a:schemeClr val="bg2"/>
            </a:solidFill>
            <a:prstDash val="solid"/>
          </a:ln>
        </p:spPr>
        <p:txBody>
          <a:bodyPr/>
          <a:lstStyle/>
          <a:p>
            <a:endParaRPr lang="en-US"/>
          </a:p>
        </p:txBody>
      </p:sp>
      <p:sp>
        <p:nvSpPr>
          <p:cNvPr id="4" name="Analyzer circle"/>
          <p:cNvSpPr/>
          <p:nvPr/>
        </p:nvSpPr>
        <p:spPr>
          <a:xfrm>
            <a:off x="868680" y="169164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5" name="Analyzer icon" descr="Analyzer"/>
          <p:cNvPicPr>
            <a:picLocks noChangeAspect="1"/>
          </p:cNvPicPr>
          <p:nvPr/>
        </p:nvPicPr>
        <p:blipFill>
          <a:blip r:embed="rId3"/>
          <a:stretch>
            <a:fillRect/>
          </a:stretch>
        </p:blipFill>
        <p:spPr>
          <a:xfrm>
            <a:off x="1051560" y="1874520"/>
            <a:ext cx="365760" cy="365760"/>
          </a:xfrm>
          <a:prstGeom prst="rect">
            <a:avLst/>
          </a:prstGeom>
        </p:spPr>
      </p:pic>
      <p:sp>
        <p:nvSpPr>
          <p:cNvPr id="6" name="Text 3"/>
          <p:cNvSpPr txBox="1"/>
          <p:nvPr/>
        </p:nvSpPr>
        <p:spPr>
          <a:xfrm>
            <a:off x="1737360" y="1691640"/>
            <a:ext cx="2194560" cy="731520"/>
          </a:xfrm>
          <a:prstGeom prst="rect">
            <a:avLst/>
          </a:prstGeom>
          <a:noFill/>
          <a:ln/>
        </p:spPr>
        <p:txBody>
          <a:bodyPr wrap="square" lIns="0" tIns="0" rIns="0" bIns="0" rtlCol="0" anchor="ctr"/>
          <a:lstStyle/>
          <a:p>
            <a:pPr marL="0" indent="0" algn="l">
              <a:buNone/>
            </a:pPr>
            <a:r>
              <a:rPr lang="en-US" sz="2400" b="1" dirty="0">
                <a:solidFill>
                  <a:schemeClr val="tx1"/>
                </a:solidFill>
                <a:latin typeface="Times New Roman" pitchFamily="34" charset="0"/>
                <a:ea typeface="Times New Roman" pitchFamily="34" charset="-122"/>
                <a:cs typeface="Times New Roman" pitchFamily="34" charset="-120"/>
              </a:rPr>
              <a:t>Analyzer</a:t>
            </a:r>
            <a:endParaRPr lang="en-US" sz="2400" dirty="0"/>
          </a:p>
        </p:txBody>
      </p:sp>
      <p:sp>
        <p:nvSpPr>
          <p:cNvPr id="7" name="Text 4"/>
          <p:cNvSpPr txBox="1"/>
          <p:nvPr/>
        </p:nvSpPr>
        <p:spPr>
          <a:xfrm>
            <a:off x="868680" y="2743200"/>
            <a:ext cx="2926080" cy="3200400"/>
          </a:xfrm>
          <a:prstGeom prst="rect">
            <a:avLst/>
          </a:prstGeom>
          <a:noFill/>
          <a:ln/>
        </p:spPr>
        <p:txBody>
          <a:bodyPr wrap="square" lIns="0" tIns="0" rIns="0" bIns="0" rtlCol="0" anchor="t"/>
          <a:lstStyle/>
          <a:p>
            <a:pPr marL="342900" indent="-342900" algn="l">
              <a:spcAft>
                <a:spcPts val="600"/>
              </a:spcAft>
              <a:buSzPct val="100000"/>
              <a:buChar char="•"/>
            </a:pPr>
            <a:r>
              <a:rPr lang="en-US" sz="1500" dirty="0">
                <a:solidFill>
                  <a:schemeClr val="tx2"/>
                </a:solidFill>
              </a:rPr>
              <a:t>Reads the transcript and finds the core promise of the video</a:t>
            </a:r>
            <a:endParaRPr lang="en-US" sz="1500" dirty="0"/>
          </a:p>
          <a:p>
            <a:pPr marL="342900" indent="-342900" algn="l">
              <a:spcAft>
                <a:spcPts val="600"/>
              </a:spcAft>
              <a:buSzPct val="100000"/>
              <a:buChar char="•"/>
            </a:pPr>
            <a:r>
              <a:rPr lang="en-US" sz="1500" dirty="0">
                <a:solidFill>
                  <a:schemeClr val="tx2"/>
                </a:solidFill>
              </a:rPr>
              <a:t>Lists the real facts: names, numbers, stakes</a:t>
            </a:r>
            <a:endParaRPr lang="en-US" sz="1500" dirty="0"/>
          </a:p>
          <a:p>
            <a:pPr marL="342900" indent="-342900" algn="l">
              <a:spcAft>
                <a:spcPts val="600"/>
              </a:spcAft>
              <a:buSzPct val="100000"/>
              <a:buChar char="•"/>
            </a:pPr>
            <a:r>
              <a:rPr lang="en-US" sz="1500" dirty="0">
                <a:solidFill>
                  <a:schemeClr val="tx2"/>
                </a:solidFill>
              </a:rPr>
              <a:t>Passes only a short brief on, so the writer never sees the raw transcript. This cuts hallucination.</a:t>
            </a:r>
            <a:endParaRPr lang="en-US" sz="1500" dirty="0"/>
          </a:p>
        </p:txBody>
      </p:sp>
      <p:sp>
        <p:nvSpPr>
          <p:cNvPr id="8" name="Agent card Generator"/>
          <p:cNvSpPr/>
          <p:nvPr/>
        </p:nvSpPr>
        <p:spPr>
          <a:xfrm>
            <a:off x="4343400" y="1463040"/>
            <a:ext cx="3520440" cy="4663440"/>
          </a:xfrm>
          <a:prstGeom prst="rect">
            <a:avLst/>
          </a:prstGeom>
          <a:solidFill>
            <a:schemeClr val="bg2"/>
          </a:solidFill>
          <a:ln w="12700">
            <a:solidFill>
              <a:schemeClr val="bg2"/>
            </a:solidFill>
            <a:prstDash val="solid"/>
          </a:ln>
        </p:spPr>
        <p:txBody>
          <a:bodyPr/>
          <a:lstStyle/>
          <a:p>
            <a:endParaRPr lang="en-US"/>
          </a:p>
        </p:txBody>
      </p:sp>
      <p:sp>
        <p:nvSpPr>
          <p:cNvPr id="9" name="Generator circle"/>
          <p:cNvSpPr/>
          <p:nvPr/>
        </p:nvSpPr>
        <p:spPr>
          <a:xfrm>
            <a:off x="4663440" y="169164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0" name="Generator icon" descr="Generator"/>
          <p:cNvPicPr>
            <a:picLocks noChangeAspect="1"/>
          </p:cNvPicPr>
          <p:nvPr/>
        </p:nvPicPr>
        <p:blipFill>
          <a:blip r:embed="rId4"/>
          <a:stretch>
            <a:fillRect/>
          </a:stretch>
        </p:blipFill>
        <p:spPr>
          <a:xfrm>
            <a:off x="4846320" y="1874520"/>
            <a:ext cx="365760" cy="365760"/>
          </a:xfrm>
          <a:prstGeom prst="rect">
            <a:avLst/>
          </a:prstGeom>
        </p:spPr>
      </p:pic>
      <p:sp>
        <p:nvSpPr>
          <p:cNvPr id="11" name="Text 7"/>
          <p:cNvSpPr txBox="1"/>
          <p:nvPr/>
        </p:nvSpPr>
        <p:spPr>
          <a:xfrm>
            <a:off x="5532120" y="1691640"/>
            <a:ext cx="2194560" cy="731520"/>
          </a:xfrm>
          <a:prstGeom prst="rect">
            <a:avLst/>
          </a:prstGeom>
          <a:noFill/>
          <a:ln/>
        </p:spPr>
        <p:txBody>
          <a:bodyPr wrap="square" lIns="0" tIns="0" rIns="0" bIns="0" rtlCol="0" anchor="ctr"/>
          <a:lstStyle/>
          <a:p>
            <a:pPr marL="0" indent="0" algn="l">
              <a:buNone/>
            </a:pPr>
            <a:r>
              <a:rPr lang="en-US" sz="2400" b="1" dirty="0">
                <a:solidFill>
                  <a:schemeClr val="tx1"/>
                </a:solidFill>
                <a:latin typeface="Times New Roman" pitchFamily="34" charset="0"/>
                <a:ea typeface="Times New Roman" pitchFamily="34" charset="-122"/>
                <a:cs typeface="Times New Roman" pitchFamily="34" charset="-120"/>
              </a:rPr>
              <a:t>Generator</a:t>
            </a:r>
            <a:endParaRPr lang="en-US" sz="2400" dirty="0"/>
          </a:p>
        </p:txBody>
      </p:sp>
      <p:sp>
        <p:nvSpPr>
          <p:cNvPr id="12" name="Text 8"/>
          <p:cNvSpPr txBox="1"/>
          <p:nvPr/>
        </p:nvSpPr>
        <p:spPr>
          <a:xfrm>
            <a:off x="4663440" y="2743200"/>
            <a:ext cx="2926080" cy="3200400"/>
          </a:xfrm>
          <a:prstGeom prst="rect">
            <a:avLst/>
          </a:prstGeom>
          <a:noFill/>
          <a:ln/>
        </p:spPr>
        <p:txBody>
          <a:bodyPr wrap="square" lIns="0" tIns="0" rIns="0" bIns="0" rtlCol="0" anchor="t"/>
          <a:lstStyle/>
          <a:p>
            <a:pPr marL="342900" indent="-342900" algn="l">
              <a:spcAft>
                <a:spcPts val="600"/>
              </a:spcAft>
              <a:buSzPct val="100000"/>
              <a:buChar char="•"/>
            </a:pPr>
            <a:r>
              <a:rPr lang="en-US" sz="1500" dirty="0">
                <a:solidFill>
                  <a:schemeClr val="tx2"/>
                </a:solidFill>
              </a:rPr>
              <a:t>Writes 5 titles, one for each psychological hook (curiosity gap [7], loss, social proof...)</a:t>
            </a:r>
            <a:endParaRPr lang="en-US" sz="1500" dirty="0"/>
          </a:p>
          <a:p>
            <a:pPr marL="342900" indent="-342900" algn="l">
              <a:spcAft>
                <a:spcPts val="600"/>
              </a:spcAft>
              <a:buSzPct val="100000"/>
              <a:buChar char="•"/>
            </a:pPr>
            <a:r>
              <a:rPr lang="en-US" sz="1500" dirty="0">
                <a:solidFill>
                  <a:schemeClr val="tx2"/>
                </a:solidFill>
              </a:rPr>
              <a:t>Learns from similar high-performing titles (few-shot examples [2] from a vector database)</a:t>
            </a:r>
            <a:endParaRPr lang="en-US" sz="1500" dirty="0"/>
          </a:p>
          <a:p>
            <a:pPr marL="342900" indent="-342900" algn="l">
              <a:spcAft>
                <a:spcPts val="600"/>
              </a:spcAft>
              <a:buSzPct val="100000"/>
              <a:buChar char="•"/>
            </a:pPr>
            <a:r>
              <a:rPr lang="en-US" sz="1500" dirty="0">
                <a:solidFill>
                  <a:schemeClr val="tx2"/>
                </a:solidFill>
              </a:rPr>
              <a:t>Thinks step by step (chain-of-thought [3]) as an expert copywriter (persona)</a:t>
            </a:r>
            <a:endParaRPr lang="en-US" sz="1500" dirty="0"/>
          </a:p>
        </p:txBody>
      </p:sp>
      <p:sp>
        <p:nvSpPr>
          <p:cNvPr id="13" name="Agent card Critic"/>
          <p:cNvSpPr/>
          <p:nvPr/>
        </p:nvSpPr>
        <p:spPr>
          <a:xfrm>
            <a:off x="8138160" y="1463040"/>
            <a:ext cx="3520440" cy="4663440"/>
          </a:xfrm>
          <a:prstGeom prst="rect">
            <a:avLst/>
          </a:prstGeom>
          <a:solidFill>
            <a:schemeClr val="bg2"/>
          </a:solidFill>
          <a:ln w="12700">
            <a:solidFill>
              <a:schemeClr val="bg2"/>
            </a:solidFill>
            <a:prstDash val="solid"/>
          </a:ln>
        </p:spPr>
        <p:txBody>
          <a:bodyPr/>
          <a:lstStyle/>
          <a:p>
            <a:endParaRPr lang="en-US"/>
          </a:p>
        </p:txBody>
      </p:sp>
      <p:sp>
        <p:nvSpPr>
          <p:cNvPr id="14" name="Critic circle"/>
          <p:cNvSpPr/>
          <p:nvPr/>
        </p:nvSpPr>
        <p:spPr>
          <a:xfrm>
            <a:off x="8458200" y="169164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5" name="Critic icon" descr="Critic"/>
          <p:cNvPicPr>
            <a:picLocks noChangeAspect="1"/>
          </p:cNvPicPr>
          <p:nvPr/>
        </p:nvPicPr>
        <p:blipFill>
          <a:blip r:embed="rId5"/>
          <a:stretch>
            <a:fillRect/>
          </a:stretch>
        </p:blipFill>
        <p:spPr>
          <a:xfrm>
            <a:off x="8641080" y="1874520"/>
            <a:ext cx="365760" cy="365760"/>
          </a:xfrm>
          <a:prstGeom prst="rect">
            <a:avLst/>
          </a:prstGeom>
        </p:spPr>
      </p:pic>
      <p:sp>
        <p:nvSpPr>
          <p:cNvPr id="16" name="Text 11"/>
          <p:cNvSpPr txBox="1"/>
          <p:nvPr/>
        </p:nvSpPr>
        <p:spPr>
          <a:xfrm>
            <a:off x="9326880" y="1691640"/>
            <a:ext cx="2194560" cy="731520"/>
          </a:xfrm>
          <a:prstGeom prst="rect">
            <a:avLst/>
          </a:prstGeom>
          <a:noFill/>
          <a:ln/>
        </p:spPr>
        <p:txBody>
          <a:bodyPr wrap="square" lIns="0" tIns="0" rIns="0" bIns="0" rtlCol="0" anchor="ctr"/>
          <a:lstStyle/>
          <a:p>
            <a:pPr marL="0" indent="0" algn="l">
              <a:buNone/>
            </a:pPr>
            <a:r>
              <a:rPr lang="en-US" sz="2400" b="1" dirty="0">
                <a:solidFill>
                  <a:schemeClr val="tx1"/>
                </a:solidFill>
                <a:latin typeface="Times New Roman" pitchFamily="34" charset="0"/>
                <a:ea typeface="Times New Roman" pitchFamily="34" charset="-122"/>
                <a:cs typeface="Times New Roman" pitchFamily="34" charset="-120"/>
              </a:rPr>
              <a:t>Critic</a:t>
            </a:r>
            <a:endParaRPr lang="en-US" sz="2400" dirty="0"/>
          </a:p>
        </p:txBody>
      </p:sp>
      <p:sp>
        <p:nvSpPr>
          <p:cNvPr id="17" name="Text 12"/>
          <p:cNvSpPr txBox="1"/>
          <p:nvPr/>
        </p:nvSpPr>
        <p:spPr>
          <a:xfrm>
            <a:off x="8458200" y="2743200"/>
            <a:ext cx="2926080" cy="3200400"/>
          </a:xfrm>
          <a:prstGeom prst="rect">
            <a:avLst/>
          </a:prstGeom>
          <a:noFill/>
          <a:ln/>
        </p:spPr>
        <p:txBody>
          <a:bodyPr wrap="square" lIns="0" tIns="0" rIns="0" bIns="0" rtlCol="0" anchor="t"/>
          <a:lstStyle/>
          <a:p>
            <a:pPr marL="342900" indent="-342900" algn="l">
              <a:spcAft>
                <a:spcPts val="600"/>
              </a:spcAft>
              <a:buSzPct val="100000"/>
              <a:buChar char="•"/>
            </a:pPr>
            <a:r>
              <a:rPr lang="en-US" sz="1500" dirty="0">
                <a:solidFill>
                  <a:schemeClr val="tx2"/>
                </a:solidFill>
              </a:rPr>
              <a:t>Predicts click appeal with the pCTR model (predicted click-through rate, CTR)</a:t>
            </a:r>
            <a:endParaRPr lang="en-US" sz="1500" dirty="0"/>
          </a:p>
          <a:p>
            <a:pPr marL="342900" indent="-342900" algn="l">
              <a:spcAft>
                <a:spcPts val="600"/>
              </a:spcAft>
              <a:buSzPct val="100000"/>
              <a:buChar char="•"/>
            </a:pPr>
            <a:r>
              <a:rPr lang="en-US" sz="1500" dirty="0">
                <a:solidFill>
                  <a:schemeClr val="tx2"/>
                </a:solidFill>
              </a:rPr>
              <a:t>Measures emotion (VADER sentiment [4]) and closeness to the video (BERTScore similarity [5])</a:t>
            </a:r>
            <a:endParaRPr lang="en-US" sz="1500" dirty="0"/>
          </a:p>
          <a:p>
            <a:pPr marL="342900" indent="-342900" algn="l">
              <a:spcAft>
                <a:spcPts val="600"/>
              </a:spcAft>
              <a:buSzPct val="100000"/>
              <a:buChar char="•"/>
            </a:pPr>
            <a:r>
              <a:rPr lang="en-US" sz="1500" dirty="0">
                <a:solidFill>
                  <a:schemeClr val="tx2"/>
                </a:solidFill>
              </a:rPr>
              <a:t>Rejects any title that contradicts the video (NLI, natural language inference)</a:t>
            </a:r>
            <a:endParaRPr lang="en-US" sz="15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Keeping titles honest</a:t>
            </a:r>
            <a:endParaRPr lang="en-US" sz="3400" dirty="0"/>
          </a:p>
        </p:txBody>
      </p:sp>
      <p:sp>
        <p:nvSpPr>
          <p:cNvPr id="3" name="Truth check card"/>
          <p:cNvSpPr/>
          <p:nvPr/>
        </p:nvSpPr>
        <p:spPr>
          <a:xfrm>
            <a:off x="548640" y="1463040"/>
            <a:ext cx="5486400" cy="4663440"/>
          </a:xfrm>
          <a:prstGeom prst="rect">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868680" y="1691640"/>
            <a:ext cx="4846320" cy="411480"/>
          </a:xfrm>
          <a:prstGeom prst="rect">
            <a:avLst/>
          </a:prstGeom>
          <a:noFill/>
          <a:ln/>
        </p:spPr>
        <p:txBody>
          <a:bodyPr wrap="square" lIns="0" tIns="0" rIns="0" bIns="0" rtlCol="0" anchor="t"/>
          <a:lstStyle/>
          <a:p>
            <a:pPr marL="0" indent="0" algn="l">
              <a:buNone/>
            </a:pPr>
            <a:r>
              <a:rPr lang="en-US" sz="2200" b="1" dirty="0">
                <a:solidFill>
                  <a:schemeClr val="tx1"/>
                </a:solidFill>
                <a:latin typeface="Times New Roman" pitchFamily="34" charset="0"/>
                <a:ea typeface="Times New Roman" pitchFamily="34" charset="-122"/>
                <a:cs typeface="Times New Roman" pitchFamily="34" charset="-120"/>
              </a:rPr>
              <a:t>Truth check (NLI model)</a:t>
            </a:r>
            <a:endParaRPr lang="en-US" sz="2200" dirty="0"/>
          </a:p>
        </p:txBody>
      </p:sp>
      <p:sp>
        <p:nvSpPr>
          <p:cNvPr id="5" name="Text 3"/>
          <p:cNvSpPr txBox="1"/>
          <p:nvPr/>
        </p:nvSpPr>
        <p:spPr>
          <a:xfrm>
            <a:off x="868680" y="2194560"/>
            <a:ext cx="4846320" cy="731520"/>
          </a:xfrm>
          <a:prstGeom prst="rect">
            <a:avLst/>
          </a:prstGeom>
          <a:noFill/>
          <a:ln/>
        </p:spPr>
        <p:txBody>
          <a:bodyPr wrap="square" lIns="0" tIns="0" rIns="0" bIns="0" rtlCol="0" anchor="t"/>
          <a:lstStyle/>
          <a:p>
            <a:pPr marL="0" indent="0" algn="l">
              <a:buNone/>
            </a:pPr>
            <a:r>
              <a:rPr lang="en-US" sz="1500" dirty="0">
                <a:solidFill>
                  <a:schemeClr val="tx2"/>
                </a:solidFill>
              </a:rPr>
              <a:t>The AI asks: does this title contradict what the video actually says?</a:t>
            </a:r>
            <a:endParaRPr lang="en-US" sz="1500" dirty="0"/>
          </a:p>
        </p:txBody>
      </p:sp>
      <p:sp>
        <p:nvSpPr>
          <p:cNvPr id="6" name="Entailment circle"/>
          <p:cNvSpPr/>
          <p:nvPr/>
        </p:nvSpPr>
        <p:spPr>
          <a:xfrm>
            <a:off x="868680" y="3108960"/>
            <a:ext cx="640080" cy="640080"/>
          </a:xfrm>
          <a:prstGeom prst="ellipse">
            <a:avLst/>
          </a:prstGeom>
          <a:solidFill>
            <a:schemeClr val="accent2"/>
          </a:solidFill>
          <a:ln w="12700">
            <a:solidFill>
              <a:schemeClr val="accent2"/>
            </a:solidFill>
            <a:prstDash val="solid"/>
          </a:ln>
        </p:spPr>
        <p:txBody>
          <a:bodyPr/>
          <a:lstStyle/>
          <a:p>
            <a:endParaRPr lang="en-US"/>
          </a:p>
        </p:txBody>
      </p:sp>
      <p:pic>
        <p:nvPicPr>
          <p:cNvPr id="7" name="Entailment icon" descr="Entailment"/>
          <p:cNvPicPr>
            <a:picLocks noChangeAspect="1"/>
          </p:cNvPicPr>
          <p:nvPr/>
        </p:nvPicPr>
        <p:blipFill>
          <a:blip r:embed="rId3"/>
          <a:stretch>
            <a:fillRect/>
          </a:stretch>
        </p:blipFill>
        <p:spPr>
          <a:xfrm>
            <a:off x="1028700" y="3268980"/>
            <a:ext cx="320040" cy="320040"/>
          </a:xfrm>
          <a:prstGeom prst="rect">
            <a:avLst/>
          </a:prstGeom>
        </p:spPr>
      </p:pic>
      <p:sp>
        <p:nvSpPr>
          <p:cNvPr id="8" name="Text 5"/>
          <p:cNvSpPr txBox="1"/>
          <p:nvPr/>
        </p:nvSpPr>
        <p:spPr>
          <a:xfrm>
            <a:off x="1737360" y="3108960"/>
            <a:ext cx="4023360" cy="320040"/>
          </a:xfrm>
          <a:prstGeom prst="rect">
            <a:avLst/>
          </a:prstGeom>
          <a:noFill/>
          <a:ln/>
        </p:spPr>
        <p:txBody>
          <a:bodyPr wrap="square" lIns="0" tIns="0" rIns="0" bIns="0" rtlCol="0" anchor="t"/>
          <a:lstStyle/>
          <a:p>
            <a:pPr marL="0" indent="0" algn="l">
              <a:buNone/>
            </a:pPr>
            <a:r>
              <a:rPr lang="en-US" sz="1700" b="1" dirty="0">
                <a:solidFill>
                  <a:schemeClr val="tx1"/>
                </a:solidFill>
              </a:rPr>
              <a:t>Entailment</a:t>
            </a:r>
            <a:endParaRPr lang="en-US" sz="1700" dirty="0"/>
          </a:p>
        </p:txBody>
      </p:sp>
      <p:sp>
        <p:nvSpPr>
          <p:cNvPr id="9" name="Text 6"/>
          <p:cNvSpPr txBox="1"/>
          <p:nvPr/>
        </p:nvSpPr>
        <p:spPr>
          <a:xfrm>
            <a:off x="1737360" y="3438144"/>
            <a:ext cx="4023360" cy="365760"/>
          </a:xfrm>
          <a:prstGeom prst="rect">
            <a:avLst/>
          </a:prstGeom>
          <a:noFill/>
          <a:ln/>
        </p:spPr>
        <p:txBody>
          <a:bodyPr wrap="square" lIns="0" tIns="0" rIns="0" bIns="0" rtlCol="0" anchor="t"/>
          <a:lstStyle/>
          <a:p>
            <a:pPr marL="0" indent="0" algn="l">
              <a:buNone/>
            </a:pPr>
            <a:r>
              <a:rPr lang="en-US" sz="1400" dirty="0">
                <a:solidFill>
                  <a:schemeClr val="tx2"/>
                </a:solidFill>
              </a:rPr>
              <a:t>Title matches the video. Keep it.</a:t>
            </a:r>
            <a:endParaRPr lang="en-US" sz="1400" dirty="0"/>
          </a:p>
        </p:txBody>
      </p:sp>
      <p:sp>
        <p:nvSpPr>
          <p:cNvPr id="10" name="Neutral circle"/>
          <p:cNvSpPr/>
          <p:nvPr/>
        </p:nvSpPr>
        <p:spPr>
          <a:xfrm>
            <a:off x="868680" y="4069080"/>
            <a:ext cx="640080" cy="640080"/>
          </a:xfrm>
          <a:prstGeom prst="ellipse">
            <a:avLst/>
          </a:prstGeom>
          <a:solidFill>
            <a:schemeClr val="accent3"/>
          </a:solidFill>
          <a:ln w="12700">
            <a:solidFill>
              <a:schemeClr val="accent3"/>
            </a:solidFill>
            <a:prstDash val="solid"/>
          </a:ln>
        </p:spPr>
        <p:txBody>
          <a:bodyPr/>
          <a:lstStyle/>
          <a:p>
            <a:endParaRPr lang="en-US"/>
          </a:p>
        </p:txBody>
      </p:sp>
      <p:pic>
        <p:nvPicPr>
          <p:cNvPr id="11" name="Neutral icon" descr="Neutral"/>
          <p:cNvPicPr>
            <a:picLocks noChangeAspect="1"/>
          </p:cNvPicPr>
          <p:nvPr/>
        </p:nvPicPr>
        <p:blipFill>
          <a:blip r:embed="rId4"/>
          <a:stretch>
            <a:fillRect/>
          </a:stretch>
        </p:blipFill>
        <p:spPr>
          <a:xfrm>
            <a:off x="1028700" y="4229100"/>
            <a:ext cx="320040" cy="320040"/>
          </a:xfrm>
          <a:prstGeom prst="rect">
            <a:avLst/>
          </a:prstGeom>
        </p:spPr>
      </p:pic>
      <p:sp>
        <p:nvSpPr>
          <p:cNvPr id="12" name="Text 8"/>
          <p:cNvSpPr txBox="1"/>
          <p:nvPr/>
        </p:nvSpPr>
        <p:spPr>
          <a:xfrm>
            <a:off x="1737360" y="4069080"/>
            <a:ext cx="4023360" cy="320040"/>
          </a:xfrm>
          <a:prstGeom prst="rect">
            <a:avLst/>
          </a:prstGeom>
          <a:noFill/>
          <a:ln/>
        </p:spPr>
        <p:txBody>
          <a:bodyPr wrap="square" lIns="0" tIns="0" rIns="0" bIns="0" rtlCol="0" anchor="t"/>
          <a:lstStyle/>
          <a:p>
            <a:pPr marL="0" indent="0" algn="l">
              <a:buNone/>
            </a:pPr>
            <a:r>
              <a:rPr lang="en-US" sz="1700" b="1" dirty="0">
                <a:solidFill>
                  <a:schemeClr val="tx1"/>
                </a:solidFill>
              </a:rPr>
              <a:t>Neutral</a:t>
            </a:r>
            <a:endParaRPr lang="en-US" sz="1700" dirty="0"/>
          </a:p>
        </p:txBody>
      </p:sp>
      <p:sp>
        <p:nvSpPr>
          <p:cNvPr id="13" name="Text 9"/>
          <p:cNvSpPr txBox="1"/>
          <p:nvPr/>
        </p:nvSpPr>
        <p:spPr>
          <a:xfrm>
            <a:off x="1737360" y="4398264"/>
            <a:ext cx="4023360" cy="365760"/>
          </a:xfrm>
          <a:prstGeom prst="rect">
            <a:avLst/>
          </a:prstGeom>
          <a:noFill/>
          <a:ln/>
        </p:spPr>
        <p:txBody>
          <a:bodyPr wrap="square" lIns="0" tIns="0" rIns="0" bIns="0" rtlCol="0" anchor="t"/>
          <a:lstStyle/>
          <a:p>
            <a:pPr marL="0" indent="0" algn="l">
              <a:buNone/>
            </a:pPr>
            <a:r>
              <a:rPr lang="en-US" sz="1400" dirty="0">
                <a:solidFill>
                  <a:schemeClr val="tx2"/>
                </a:solidFill>
              </a:rPr>
              <a:t>Not contradicted. Keep it.</a:t>
            </a:r>
            <a:endParaRPr lang="en-US" sz="1400" dirty="0"/>
          </a:p>
        </p:txBody>
      </p:sp>
      <p:sp>
        <p:nvSpPr>
          <p:cNvPr id="14" name="Contradiction circle"/>
          <p:cNvSpPr/>
          <p:nvPr/>
        </p:nvSpPr>
        <p:spPr>
          <a:xfrm>
            <a:off x="868680" y="502920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5" name="Contradiction icon" descr="Contradiction"/>
          <p:cNvPicPr>
            <a:picLocks noChangeAspect="1"/>
          </p:cNvPicPr>
          <p:nvPr/>
        </p:nvPicPr>
        <p:blipFill>
          <a:blip r:embed="rId5"/>
          <a:stretch>
            <a:fillRect/>
          </a:stretch>
        </p:blipFill>
        <p:spPr>
          <a:xfrm>
            <a:off x="1028700" y="5189220"/>
            <a:ext cx="320040" cy="320040"/>
          </a:xfrm>
          <a:prstGeom prst="rect">
            <a:avLst/>
          </a:prstGeom>
        </p:spPr>
      </p:pic>
      <p:sp>
        <p:nvSpPr>
          <p:cNvPr id="16" name="Text 11"/>
          <p:cNvSpPr txBox="1"/>
          <p:nvPr/>
        </p:nvSpPr>
        <p:spPr>
          <a:xfrm>
            <a:off x="1737360" y="5029200"/>
            <a:ext cx="4023360" cy="320040"/>
          </a:xfrm>
          <a:prstGeom prst="rect">
            <a:avLst/>
          </a:prstGeom>
          <a:noFill/>
          <a:ln/>
        </p:spPr>
        <p:txBody>
          <a:bodyPr wrap="square" lIns="0" tIns="0" rIns="0" bIns="0" rtlCol="0" anchor="t"/>
          <a:lstStyle/>
          <a:p>
            <a:pPr marL="0" indent="0" algn="l">
              <a:buNone/>
            </a:pPr>
            <a:r>
              <a:rPr lang="en-US" sz="1700" b="1" dirty="0">
                <a:solidFill>
                  <a:schemeClr val="tx1"/>
                </a:solidFill>
              </a:rPr>
              <a:t>Contradiction</a:t>
            </a:r>
            <a:endParaRPr lang="en-US" sz="1700" dirty="0"/>
          </a:p>
        </p:txBody>
      </p:sp>
      <p:sp>
        <p:nvSpPr>
          <p:cNvPr id="17" name="Text 12"/>
          <p:cNvSpPr txBox="1"/>
          <p:nvPr/>
        </p:nvSpPr>
        <p:spPr>
          <a:xfrm>
            <a:off x="1737360" y="5358384"/>
            <a:ext cx="4023360" cy="365760"/>
          </a:xfrm>
          <a:prstGeom prst="rect">
            <a:avLst/>
          </a:prstGeom>
          <a:noFill/>
          <a:ln/>
        </p:spPr>
        <p:txBody>
          <a:bodyPr wrap="square" lIns="0" tIns="0" rIns="0" bIns="0" rtlCol="0" anchor="t"/>
          <a:lstStyle/>
          <a:p>
            <a:pPr marL="0" indent="0" algn="l">
              <a:buNone/>
            </a:pPr>
            <a:r>
              <a:rPr lang="en-US" sz="1400" dirty="0">
                <a:solidFill>
                  <a:schemeClr val="tx2"/>
                </a:solidFill>
              </a:rPr>
              <a:t>Rejected and written to the rejection log.</a:t>
            </a:r>
            <a:endParaRPr lang="en-US" sz="1400" dirty="0"/>
          </a:p>
        </p:txBody>
      </p:sp>
      <p:sp>
        <p:nvSpPr>
          <p:cNvPr id="18" name="Ranking card"/>
          <p:cNvSpPr/>
          <p:nvPr/>
        </p:nvSpPr>
        <p:spPr>
          <a:xfrm>
            <a:off x="6309360" y="1463040"/>
            <a:ext cx="5303520" cy="2331720"/>
          </a:xfrm>
          <a:prstGeom prst="rect">
            <a:avLst/>
          </a:prstGeom>
          <a:solidFill>
            <a:schemeClr val="tx1"/>
          </a:solidFill>
          <a:ln w="12700">
            <a:solidFill>
              <a:schemeClr val="tx1"/>
            </a:solidFill>
            <a:prstDash val="solid"/>
          </a:ln>
        </p:spPr>
        <p:txBody>
          <a:bodyPr/>
          <a:lstStyle/>
          <a:p>
            <a:endParaRPr lang="en-US"/>
          </a:p>
        </p:txBody>
      </p:sp>
      <p:sp>
        <p:nvSpPr>
          <p:cNvPr id="19" name="Text 14"/>
          <p:cNvSpPr txBox="1"/>
          <p:nvPr/>
        </p:nvSpPr>
        <p:spPr>
          <a:xfrm>
            <a:off x="6629400" y="1645920"/>
            <a:ext cx="4663440" cy="365760"/>
          </a:xfrm>
          <a:prstGeom prst="rect">
            <a:avLst/>
          </a:prstGeom>
          <a:noFill/>
          <a:ln/>
        </p:spPr>
        <p:txBody>
          <a:bodyPr wrap="square" lIns="0" tIns="0" rIns="0" bIns="0" rtlCol="0" anchor="t"/>
          <a:lstStyle/>
          <a:p>
            <a:pPr marL="0" indent="0" algn="l">
              <a:buNone/>
            </a:pPr>
            <a:r>
              <a:rPr lang="en-US" sz="1400" b="1" dirty="0">
                <a:solidFill>
                  <a:schemeClr val="accent3"/>
                </a:solidFill>
              </a:rPr>
              <a:t>Ranking the survivors</a:t>
            </a:r>
            <a:endParaRPr lang="en-US" sz="1400" dirty="0"/>
          </a:p>
        </p:txBody>
      </p:sp>
      <p:sp>
        <p:nvSpPr>
          <p:cNvPr id="20" name="Text 15"/>
          <p:cNvSpPr txBox="1"/>
          <p:nvPr/>
        </p:nvSpPr>
        <p:spPr>
          <a:xfrm>
            <a:off x="6629400" y="2103120"/>
            <a:ext cx="4663440" cy="914400"/>
          </a:xfrm>
          <a:prstGeom prst="rect">
            <a:avLst/>
          </a:prstGeom>
          <a:noFill/>
          <a:ln/>
        </p:spPr>
        <p:txBody>
          <a:bodyPr wrap="square" lIns="0" tIns="0" rIns="0" bIns="0" rtlCol="0" anchor="t"/>
          <a:lstStyle/>
          <a:p>
            <a:pPr marL="0" indent="0" algn="l">
              <a:buNone/>
            </a:pPr>
            <a:r>
              <a:rPr lang="en-US" sz="1900" b="1" dirty="0">
                <a:solidFill>
                  <a:schemeClr val="bg1"/>
                </a:solidFill>
              </a:rPr>
              <a:t>Score = 50% click appeal + 25% emotion + 25% closeness to the video</a:t>
            </a:r>
            <a:endParaRPr lang="en-US" sz="1900" dirty="0"/>
          </a:p>
        </p:txBody>
      </p:sp>
      <p:sp>
        <p:nvSpPr>
          <p:cNvPr id="21" name="Text 16"/>
          <p:cNvSpPr txBox="1"/>
          <p:nvPr/>
        </p:nvSpPr>
        <p:spPr>
          <a:xfrm>
            <a:off x="6629400" y="3017520"/>
            <a:ext cx="4663440" cy="731520"/>
          </a:xfrm>
          <a:prstGeom prst="rect">
            <a:avLst/>
          </a:prstGeom>
          <a:noFill/>
          <a:ln/>
        </p:spPr>
        <p:txBody>
          <a:bodyPr wrap="square" lIns="0" tIns="0" rIns="0" bIns="0" rtlCol="0" anchor="t"/>
          <a:lstStyle/>
          <a:p>
            <a:pPr marL="0" indent="0" algn="l">
              <a:buNone/>
            </a:pPr>
            <a:r>
              <a:rPr lang="en-US" sz="1400" dirty="0">
                <a:solidFill>
                  <a:schemeClr val="bg2"/>
                </a:solidFill>
              </a:rPr>
              <a:t>Multiplied by 0 if the title contradicts the video. Emotion counts by strength, not direction, because high arousal drives sharing [6].</a:t>
            </a:r>
            <a:endParaRPr lang="en-US" sz="1400" dirty="0"/>
          </a:p>
        </p:txBody>
      </p:sp>
      <p:sp>
        <p:nvSpPr>
          <p:cNvPr id="22" name="Example card"/>
          <p:cNvSpPr/>
          <p:nvPr/>
        </p:nvSpPr>
        <p:spPr>
          <a:xfrm>
            <a:off x="6309360" y="4023360"/>
            <a:ext cx="5303520" cy="2103120"/>
          </a:xfrm>
          <a:prstGeom prst="rect">
            <a:avLst/>
          </a:prstGeom>
          <a:solidFill>
            <a:schemeClr val="bg2"/>
          </a:solidFill>
          <a:ln w="12700">
            <a:solidFill>
              <a:schemeClr val="bg2"/>
            </a:solidFill>
            <a:prstDash val="solid"/>
          </a:ln>
        </p:spPr>
        <p:txBody>
          <a:bodyPr/>
          <a:lstStyle/>
          <a:p>
            <a:endParaRPr lang="en-US"/>
          </a:p>
        </p:txBody>
      </p:sp>
      <p:sp>
        <p:nvSpPr>
          <p:cNvPr id="23" name="Text 18"/>
          <p:cNvSpPr txBox="1"/>
          <p:nvPr/>
        </p:nvSpPr>
        <p:spPr>
          <a:xfrm>
            <a:off x="6629400" y="4206240"/>
            <a:ext cx="4663440" cy="365760"/>
          </a:xfrm>
          <a:prstGeom prst="rect">
            <a:avLst/>
          </a:prstGeom>
          <a:noFill/>
          <a:ln/>
        </p:spPr>
        <p:txBody>
          <a:bodyPr wrap="square" lIns="0" tIns="0" rIns="0" bIns="0" rtlCol="0" anchor="t"/>
          <a:lstStyle/>
          <a:p>
            <a:pPr marL="0" indent="0" algn="l">
              <a:buNone/>
            </a:pPr>
            <a:r>
              <a:rPr lang="en-US" sz="1400" b="1" dirty="0">
                <a:solidFill>
                  <a:schemeClr val="accent1"/>
                </a:solidFill>
              </a:rPr>
              <a:t>Real example from my tests</a:t>
            </a:r>
            <a:endParaRPr lang="en-US" sz="1400" dirty="0"/>
          </a:p>
        </p:txBody>
      </p:sp>
      <p:sp>
        <p:nvSpPr>
          <p:cNvPr id="24" name="Text 19"/>
          <p:cNvSpPr txBox="1"/>
          <p:nvPr/>
        </p:nvSpPr>
        <p:spPr>
          <a:xfrm>
            <a:off x="6629400" y="4617720"/>
            <a:ext cx="4663440" cy="685800"/>
          </a:xfrm>
          <a:prstGeom prst="rect">
            <a:avLst/>
          </a:prstGeom>
          <a:noFill/>
          <a:ln/>
        </p:spPr>
        <p:txBody>
          <a:bodyPr wrap="square" lIns="0" tIns="0" rIns="0" bIns="0" rtlCol="0" anchor="t"/>
          <a:lstStyle/>
          <a:p>
            <a:pPr marL="0" indent="0" algn="l">
              <a:buNone/>
            </a:pPr>
            <a:r>
              <a:rPr lang="en-US" sz="1600" i="1" dirty="0">
                <a:solidFill>
                  <a:schemeClr val="tx1"/>
                </a:solidFill>
              </a:rPr>
              <a:t>"Unbelievable! 340 Attempts to Conquer the Final Boss"</a:t>
            </a:r>
            <a:endParaRPr lang="en-US" sz="1600" dirty="0"/>
          </a:p>
        </p:txBody>
      </p:sp>
      <p:sp>
        <p:nvSpPr>
          <p:cNvPr id="25" name="Text 20"/>
          <p:cNvSpPr txBox="1"/>
          <p:nvPr/>
        </p:nvSpPr>
        <p:spPr>
          <a:xfrm>
            <a:off x="6629400" y="5349240"/>
            <a:ext cx="4663440" cy="731520"/>
          </a:xfrm>
          <a:prstGeom prst="rect">
            <a:avLst/>
          </a:prstGeom>
          <a:noFill/>
          <a:ln/>
        </p:spPr>
        <p:txBody>
          <a:bodyPr wrap="square" lIns="0" tIns="0" rIns="0" bIns="0" rtlCol="0" anchor="t"/>
          <a:lstStyle/>
          <a:p>
            <a:pPr marL="0" indent="0" algn="l">
              <a:buNone/>
            </a:pPr>
            <a:r>
              <a:rPr lang="en-US" sz="1400" dirty="0">
                <a:solidFill>
                  <a:schemeClr val="tx2"/>
                </a:solidFill>
              </a:rPr>
              <a:t>Rejected: the video was a no-damage speedrun walkthrough, so the title contradicted it.</a:t>
            </a:r>
            <a:endParaRPr lang="en-US" sz="1400" dirty="0"/>
          </a:p>
        </p:txBody>
      </p:sp>
      <p:sp>
        <p:nvSpPr>
          <p:cNvPr id="26"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The dataset behind the click-appeal model</a:t>
            </a:r>
            <a:endParaRPr lang="en-US" sz="3400" dirty="0"/>
          </a:p>
        </p:txBody>
      </p:sp>
      <p:sp>
        <p:nvSpPr>
          <p:cNvPr id="3" name="Funnel step 1"/>
          <p:cNvSpPr/>
          <p:nvPr/>
        </p:nvSpPr>
        <p:spPr>
          <a:xfrm>
            <a:off x="548640" y="1463040"/>
            <a:ext cx="2148840" cy="1737360"/>
          </a:xfrm>
          <a:prstGeom prst="rect">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685800" y="1645920"/>
            <a:ext cx="1874520" cy="640080"/>
          </a:xfrm>
          <a:prstGeom prst="rect">
            <a:avLst/>
          </a:prstGeom>
          <a:noFill/>
          <a:ln/>
        </p:spPr>
        <p:txBody>
          <a:bodyPr wrap="square" lIns="0" tIns="0" rIns="0" bIns="0" rtlCol="0" anchor="t"/>
          <a:lstStyle/>
          <a:p>
            <a:pPr marL="0" indent="0" algn="ctr">
              <a:buNone/>
            </a:pPr>
            <a:r>
              <a:rPr lang="en-US" sz="3000" b="1" dirty="0">
                <a:solidFill>
                  <a:schemeClr val="tx1"/>
                </a:solidFill>
                <a:latin typeface="Times New Roman" pitchFamily="34" charset="0"/>
                <a:ea typeface="Times New Roman" pitchFamily="34" charset="-122"/>
                <a:cs typeface="Times New Roman" pitchFamily="34" charset="-120"/>
              </a:rPr>
              <a:t>644,729</a:t>
            </a:r>
            <a:endParaRPr lang="en-US" sz="3000" dirty="0"/>
          </a:p>
        </p:txBody>
      </p:sp>
      <p:sp>
        <p:nvSpPr>
          <p:cNvPr id="5" name="Text 3"/>
          <p:cNvSpPr txBox="1"/>
          <p:nvPr/>
        </p:nvSpPr>
        <p:spPr>
          <a:xfrm>
            <a:off x="685800" y="2331720"/>
            <a:ext cx="1874520" cy="777240"/>
          </a:xfrm>
          <a:prstGeom prst="rect">
            <a:avLst/>
          </a:prstGeom>
          <a:noFill/>
          <a:ln/>
        </p:spPr>
        <p:txBody>
          <a:bodyPr wrap="square" lIns="0" tIns="0" rIns="0" bIns="0" rtlCol="0" anchor="t"/>
          <a:lstStyle/>
          <a:p>
            <a:pPr marL="0" indent="0" algn="ctr">
              <a:buNone/>
            </a:pPr>
            <a:r>
              <a:rPr lang="en-US" sz="1400" dirty="0">
                <a:solidFill>
                  <a:schemeClr val="tx2"/>
                </a:solidFill>
              </a:rPr>
              <a:t>raw rows from two Kaggle datasets</a:t>
            </a:r>
            <a:endParaRPr lang="en-US" sz="1400" dirty="0"/>
          </a:p>
        </p:txBody>
      </p:sp>
      <p:sp>
        <p:nvSpPr>
          <p:cNvPr id="6" name="Funnel arrow 1"/>
          <p:cNvSpPr/>
          <p:nvPr/>
        </p:nvSpPr>
        <p:spPr>
          <a:xfrm>
            <a:off x="2743200" y="2194560"/>
            <a:ext cx="182880" cy="256032"/>
          </a:xfrm>
          <a:prstGeom prst="rightArrow">
            <a:avLst/>
          </a:prstGeom>
          <a:solidFill>
            <a:schemeClr val="accent1"/>
          </a:solidFill>
          <a:ln w="12700">
            <a:solidFill>
              <a:schemeClr val="accent1"/>
            </a:solidFill>
            <a:prstDash val="solid"/>
          </a:ln>
        </p:spPr>
        <p:txBody>
          <a:bodyPr/>
          <a:lstStyle/>
          <a:p>
            <a:endParaRPr lang="en-US"/>
          </a:p>
        </p:txBody>
      </p:sp>
      <p:sp>
        <p:nvSpPr>
          <p:cNvPr id="7" name="Funnel step 2"/>
          <p:cNvSpPr/>
          <p:nvPr/>
        </p:nvSpPr>
        <p:spPr>
          <a:xfrm>
            <a:off x="2971800" y="1463040"/>
            <a:ext cx="2148840" cy="1737360"/>
          </a:xfrm>
          <a:prstGeom prst="rect">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3108960" y="1645920"/>
            <a:ext cx="1874520" cy="640080"/>
          </a:xfrm>
          <a:prstGeom prst="rect">
            <a:avLst/>
          </a:prstGeom>
          <a:noFill/>
          <a:ln/>
        </p:spPr>
        <p:txBody>
          <a:bodyPr wrap="square" lIns="0" tIns="0" rIns="0" bIns="0" rtlCol="0" anchor="t"/>
          <a:lstStyle/>
          <a:p>
            <a:pPr marL="0" indent="0" algn="ctr">
              <a:buNone/>
            </a:pPr>
            <a:r>
              <a:rPr lang="en-US" sz="3000" b="1" dirty="0">
                <a:solidFill>
                  <a:schemeClr val="tx1"/>
                </a:solidFill>
                <a:latin typeface="Times New Roman" pitchFamily="34" charset="0"/>
                <a:ea typeface="Times New Roman" pitchFamily="34" charset="-122"/>
                <a:cs typeface="Times New Roman" pitchFamily="34" charset="-120"/>
              </a:rPr>
              <a:t>231,429</a:t>
            </a:r>
            <a:endParaRPr lang="en-US" sz="3000" dirty="0"/>
          </a:p>
        </p:txBody>
      </p:sp>
      <p:sp>
        <p:nvSpPr>
          <p:cNvPr id="9" name="Text 7"/>
          <p:cNvSpPr txBox="1"/>
          <p:nvPr/>
        </p:nvSpPr>
        <p:spPr>
          <a:xfrm>
            <a:off x="3108960" y="2331720"/>
            <a:ext cx="1874520" cy="777240"/>
          </a:xfrm>
          <a:prstGeom prst="rect">
            <a:avLst/>
          </a:prstGeom>
          <a:noFill/>
          <a:ln/>
        </p:spPr>
        <p:txBody>
          <a:bodyPr wrap="square" lIns="0" tIns="0" rIns="0" bIns="0" rtlCol="0" anchor="t"/>
          <a:lstStyle/>
          <a:p>
            <a:pPr marL="0" indent="0" algn="ctr">
              <a:buNone/>
            </a:pPr>
            <a:r>
              <a:rPr lang="en-US" sz="1400" dirty="0">
                <a:solidFill>
                  <a:schemeClr val="tx2"/>
                </a:solidFill>
              </a:rPr>
              <a:t>unique videos after de-duplication</a:t>
            </a:r>
            <a:endParaRPr lang="en-US" sz="1400" dirty="0"/>
          </a:p>
        </p:txBody>
      </p:sp>
      <p:sp>
        <p:nvSpPr>
          <p:cNvPr id="10" name="Funnel arrow 2"/>
          <p:cNvSpPr/>
          <p:nvPr/>
        </p:nvSpPr>
        <p:spPr>
          <a:xfrm>
            <a:off x="5166360" y="2194560"/>
            <a:ext cx="182880" cy="256032"/>
          </a:xfrm>
          <a:prstGeom prst="rightArrow">
            <a:avLst/>
          </a:prstGeom>
          <a:solidFill>
            <a:schemeClr val="accent1"/>
          </a:solidFill>
          <a:ln w="12700">
            <a:solidFill>
              <a:schemeClr val="accent1"/>
            </a:solidFill>
            <a:prstDash val="solid"/>
          </a:ln>
        </p:spPr>
        <p:txBody>
          <a:bodyPr/>
          <a:lstStyle/>
          <a:p>
            <a:endParaRPr lang="en-US"/>
          </a:p>
        </p:txBody>
      </p:sp>
      <p:sp>
        <p:nvSpPr>
          <p:cNvPr id="11" name="Funnel step 3"/>
          <p:cNvSpPr/>
          <p:nvPr/>
        </p:nvSpPr>
        <p:spPr>
          <a:xfrm>
            <a:off x="5394960" y="1463040"/>
            <a:ext cx="2148840" cy="1737360"/>
          </a:xfrm>
          <a:prstGeom prst="rect">
            <a:avLst/>
          </a:prstGeom>
          <a:solidFill>
            <a:schemeClr val="accent2"/>
          </a:solidFill>
          <a:ln w="12700">
            <a:solidFill>
              <a:schemeClr val="accent2"/>
            </a:solidFill>
            <a:prstDash val="solid"/>
          </a:ln>
        </p:spPr>
        <p:txBody>
          <a:bodyPr/>
          <a:lstStyle/>
          <a:p>
            <a:endParaRPr lang="en-US"/>
          </a:p>
        </p:txBody>
      </p:sp>
      <p:sp>
        <p:nvSpPr>
          <p:cNvPr id="12" name="Text 10"/>
          <p:cNvSpPr txBox="1"/>
          <p:nvPr/>
        </p:nvSpPr>
        <p:spPr>
          <a:xfrm>
            <a:off x="5532120" y="1645920"/>
            <a:ext cx="1874520" cy="640080"/>
          </a:xfrm>
          <a:prstGeom prst="rect">
            <a:avLst/>
          </a:prstGeom>
          <a:noFill/>
          <a:ln/>
        </p:spPr>
        <p:txBody>
          <a:bodyPr wrap="square" lIns="0" tIns="0" rIns="0" bIns="0" rtlCol="0" anchor="t"/>
          <a:lstStyle/>
          <a:p>
            <a:pPr marL="0" indent="0" algn="ctr">
              <a:buNone/>
            </a:pPr>
            <a:r>
              <a:rPr lang="en-US" sz="3000" b="1" dirty="0">
                <a:solidFill>
                  <a:schemeClr val="bg1"/>
                </a:solidFill>
                <a:latin typeface="Times New Roman" pitchFamily="34" charset="0"/>
                <a:ea typeface="Times New Roman" pitchFamily="34" charset="-122"/>
                <a:cs typeface="Times New Roman" pitchFamily="34" charset="-120"/>
              </a:rPr>
              <a:t>154,471</a:t>
            </a:r>
            <a:endParaRPr lang="en-US" sz="3000" dirty="0"/>
          </a:p>
        </p:txBody>
      </p:sp>
      <p:sp>
        <p:nvSpPr>
          <p:cNvPr id="13" name="Text 11"/>
          <p:cNvSpPr txBox="1"/>
          <p:nvPr/>
        </p:nvSpPr>
        <p:spPr>
          <a:xfrm>
            <a:off x="5532120" y="2331720"/>
            <a:ext cx="1874520" cy="777240"/>
          </a:xfrm>
          <a:prstGeom prst="rect">
            <a:avLst/>
          </a:prstGeom>
          <a:noFill/>
          <a:ln/>
        </p:spPr>
        <p:txBody>
          <a:bodyPr wrap="square" lIns="0" tIns="0" rIns="0" bIns="0" rtlCol="0" anchor="t"/>
          <a:lstStyle/>
          <a:p>
            <a:pPr marL="0" indent="0" algn="ctr">
              <a:buNone/>
            </a:pPr>
            <a:r>
              <a:rPr lang="en-US" sz="1400" dirty="0">
                <a:solidFill>
                  <a:schemeClr val="bg1"/>
                </a:solidFill>
              </a:rPr>
              <a:t>clean titles used for training</a:t>
            </a:r>
            <a:endParaRPr lang="en-US" sz="1400" dirty="0"/>
          </a:p>
        </p:txBody>
      </p:sp>
      <p:sp>
        <p:nvSpPr>
          <p:cNvPr id="14" name="Text 12"/>
          <p:cNvSpPr txBox="1"/>
          <p:nvPr/>
        </p:nvSpPr>
        <p:spPr>
          <a:xfrm>
            <a:off x="548640" y="3474720"/>
            <a:ext cx="6858000" cy="1097280"/>
          </a:xfrm>
          <a:prstGeom prst="rect">
            <a:avLst/>
          </a:prstGeom>
          <a:noFill/>
          <a:ln/>
        </p:spPr>
        <p:txBody>
          <a:bodyPr wrap="square" lIns="0" tIns="0" rIns="0" bIns="0" rtlCol="0" anchor="t"/>
          <a:lstStyle/>
          <a:p>
            <a:pPr marL="0" indent="0" algn="l">
              <a:buNone/>
            </a:pPr>
            <a:r>
              <a:rPr lang="en-US" sz="1500" b="1" dirty="0">
                <a:solidFill>
                  <a:schemeClr val="tx2"/>
                </a:solidFill>
              </a:rPr>
              <a:t>Cleaning rules</a:t>
            </a:r>
            <a:endParaRPr lang="en-US" sz="1500" dirty="0"/>
          </a:p>
          <a:p>
            <a:pPr marL="0" indent="0" algn="l">
              <a:buNone/>
            </a:pPr>
            <a:r>
              <a:rPr lang="en-US" sz="1500" dirty="0">
                <a:solidFill>
                  <a:schemeClr val="tx2"/>
                </a:solidFill>
              </a:rPr>
              <a:t>Remove videos under 1,000 views, SEO keyword strings and non-English titles. Keep one row per video.</a:t>
            </a:r>
            <a:endParaRPr lang="en-US" sz="1500" dirty="0"/>
          </a:p>
        </p:txBody>
      </p:sp>
      <p:sp>
        <p:nvSpPr>
          <p:cNvPr id="15" name="Text 13"/>
          <p:cNvSpPr txBox="1"/>
          <p:nvPr/>
        </p:nvSpPr>
        <p:spPr>
          <a:xfrm>
            <a:off x="548640" y="4572000"/>
            <a:ext cx="6858000" cy="1005840"/>
          </a:xfrm>
          <a:prstGeom prst="rect">
            <a:avLst/>
          </a:prstGeom>
          <a:noFill/>
          <a:ln/>
        </p:spPr>
        <p:txBody>
          <a:bodyPr wrap="square" lIns="0" tIns="0" rIns="0" bIns="0" rtlCol="0" anchor="t"/>
          <a:lstStyle/>
          <a:p>
            <a:pPr marL="0" indent="0" algn="l">
              <a:buNone/>
            </a:pPr>
            <a:r>
              <a:rPr lang="en-US" sz="1500" b="1" dirty="0">
                <a:solidFill>
                  <a:schemeClr val="tx2"/>
                </a:solidFill>
              </a:rPr>
              <a:t>The label</a:t>
            </a:r>
            <a:endParaRPr lang="en-US" sz="1500" dirty="0"/>
          </a:p>
          <a:p>
            <a:pPr marL="0" indent="0" algn="l">
              <a:buNone/>
            </a:pPr>
            <a:r>
              <a:rPr lang="en-US" sz="1500" dirty="0">
                <a:solidFill>
                  <a:schemeClr val="tx2"/>
                </a:solidFill>
              </a:rPr>
              <a:t>Viral = views above the median of its category. That gives a 50 / 50 balanced dataset.</a:t>
            </a:r>
            <a:endParaRPr lang="en-US" sz="1500" dirty="0"/>
          </a:p>
        </p:txBody>
      </p:sp>
      <p:sp>
        <p:nvSpPr>
          <p:cNvPr id="16" name="Text 14"/>
          <p:cNvSpPr txBox="1"/>
          <p:nvPr/>
        </p:nvSpPr>
        <p:spPr>
          <a:xfrm>
            <a:off x="548640" y="5760720"/>
            <a:ext cx="6858000" cy="548640"/>
          </a:xfrm>
          <a:prstGeom prst="rect">
            <a:avLst/>
          </a:prstGeom>
          <a:noFill/>
          <a:ln/>
        </p:spPr>
        <p:txBody>
          <a:bodyPr wrap="square" lIns="0" tIns="0" rIns="0" bIns="0" rtlCol="0" anchor="t"/>
          <a:lstStyle/>
          <a:p>
            <a:pPr marL="0" indent="0" algn="l">
              <a:buNone/>
            </a:pPr>
            <a:r>
              <a:rPr lang="en-US" sz="1200" dirty="0">
                <a:solidFill>
                  <a:srgbClr val="6C757D"/>
                </a:solidFill>
              </a:rPr>
              <a:t>Sources: Kaggle US trending videos [10] and the classic trending set [11]. Both only contain videos that already trended.</a:t>
            </a:r>
            <a:endParaRPr lang="en-US" sz="1200" dirty="0"/>
          </a:p>
        </p:txBody>
      </p:sp>
      <p:sp>
        <p:nvSpPr>
          <p:cNvPr id="17" name="Columns card"/>
          <p:cNvSpPr/>
          <p:nvPr/>
        </p:nvSpPr>
        <p:spPr>
          <a:xfrm>
            <a:off x="7772400" y="1463040"/>
            <a:ext cx="3840480" cy="4663440"/>
          </a:xfrm>
          <a:prstGeom prst="rect">
            <a:avLst/>
          </a:prstGeom>
          <a:solidFill>
            <a:schemeClr val="tx1"/>
          </a:solidFill>
          <a:ln w="12700">
            <a:solidFill>
              <a:schemeClr val="tx1"/>
            </a:solidFill>
            <a:prstDash val="solid"/>
          </a:ln>
        </p:spPr>
        <p:txBody>
          <a:bodyPr/>
          <a:lstStyle/>
          <a:p>
            <a:endParaRPr lang="en-US"/>
          </a:p>
        </p:txBody>
      </p:sp>
      <p:sp>
        <p:nvSpPr>
          <p:cNvPr id="18" name="Text 16"/>
          <p:cNvSpPr txBox="1"/>
          <p:nvPr/>
        </p:nvSpPr>
        <p:spPr>
          <a:xfrm>
            <a:off x="8092440" y="1645920"/>
            <a:ext cx="3200400" cy="640080"/>
          </a:xfrm>
          <a:prstGeom prst="rect">
            <a:avLst/>
          </a:prstGeom>
          <a:noFill/>
          <a:ln/>
        </p:spPr>
        <p:txBody>
          <a:bodyPr wrap="square" lIns="0" tIns="0" rIns="0" bIns="0" rtlCol="0" anchor="t"/>
          <a:lstStyle/>
          <a:p>
            <a:pPr marL="0" indent="0" algn="l">
              <a:buNone/>
            </a:pPr>
            <a:r>
              <a:rPr lang="en-US" sz="3200" b="1" dirty="0">
                <a:solidFill>
                  <a:schemeClr val="bg1"/>
                </a:solidFill>
                <a:latin typeface="Times New Roman" pitchFamily="34" charset="0"/>
                <a:ea typeface="Times New Roman" pitchFamily="34" charset="-122"/>
                <a:cs typeface="Times New Roman" pitchFamily="34" charset="-120"/>
              </a:rPr>
              <a:t>24 columns</a:t>
            </a:r>
            <a:endParaRPr lang="en-US" sz="3200" dirty="0"/>
          </a:p>
        </p:txBody>
      </p:sp>
      <p:sp>
        <p:nvSpPr>
          <p:cNvPr id="19" name="Text 17"/>
          <p:cNvSpPr txBox="1"/>
          <p:nvPr/>
        </p:nvSpPr>
        <p:spPr>
          <a:xfrm>
            <a:off x="8092440" y="2377440"/>
            <a:ext cx="3246120" cy="3566160"/>
          </a:xfrm>
          <a:prstGeom prst="rect">
            <a:avLst/>
          </a:prstGeom>
          <a:noFill/>
          <a:ln/>
        </p:spPr>
        <p:txBody>
          <a:bodyPr wrap="square" lIns="0" tIns="0" rIns="0" bIns="0" rtlCol="0" anchor="t"/>
          <a:lstStyle/>
          <a:p>
            <a:pPr marL="0" indent="0" algn="l">
              <a:buNone/>
            </a:pPr>
            <a:r>
              <a:rPr lang="en-US" sz="1400" b="1" dirty="0">
                <a:solidFill>
                  <a:schemeClr val="accent3"/>
                </a:solidFill>
              </a:rPr>
              <a:t>10 raw</a:t>
            </a:r>
            <a:endParaRPr lang="en-US" sz="1400" dirty="0"/>
          </a:p>
          <a:p>
            <a:pPr marL="0" indent="0" algn="l">
              <a:spcAft>
                <a:spcPts val="1000"/>
              </a:spcAft>
              <a:buNone/>
            </a:pPr>
            <a:r>
              <a:rPr lang="en-US" sz="1400" dirty="0">
                <a:solidFill>
                  <a:schemeClr val="bg2"/>
                </a:solidFill>
              </a:rPr>
              <a:t>title, channel, category, views, likes, comments, description, toxicity flag</a:t>
            </a:r>
            <a:endParaRPr lang="en-US" sz="1400" dirty="0"/>
          </a:p>
          <a:p>
            <a:pPr marL="0" indent="0" algn="l">
              <a:buNone/>
            </a:pPr>
            <a:r>
              <a:rPr lang="en-US" sz="1400" b="1" dirty="0">
                <a:solidFill>
                  <a:schemeClr val="accent3"/>
                </a:solidFill>
              </a:rPr>
              <a:t>12 engineered title features</a:t>
            </a:r>
            <a:endParaRPr lang="en-US" sz="1400" dirty="0"/>
          </a:p>
          <a:p>
            <a:pPr marL="0" indent="0" algn="l">
              <a:spcAft>
                <a:spcPts val="1000"/>
              </a:spcAft>
              <a:buNone/>
            </a:pPr>
            <a:r>
              <a:rPr lang="en-US" sz="1400" dirty="0">
                <a:solidFill>
                  <a:schemeClr val="bg2"/>
                </a:solidFill>
              </a:rPr>
              <a:t>length, word count, number, sentiment (VADER), ? and !, ALL-CAPS share, emoji, first-word type</a:t>
            </a:r>
            <a:endParaRPr lang="en-US" sz="1400" dirty="0"/>
          </a:p>
          <a:p>
            <a:pPr marL="0" indent="0" algn="l">
              <a:buNone/>
            </a:pPr>
            <a:r>
              <a:rPr lang="en-US" sz="1400" b="1" dirty="0">
                <a:solidFill>
                  <a:schemeClr val="accent3"/>
                </a:solidFill>
              </a:rPr>
              <a:t>2 target</a:t>
            </a:r>
            <a:endParaRPr lang="en-US" sz="1400" dirty="0"/>
          </a:p>
          <a:p>
            <a:pPr marL="0" indent="0" algn="l">
              <a:buNone/>
            </a:pPr>
            <a:r>
              <a:rPr lang="en-US" sz="1400" dirty="0">
                <a:solidFill>
                  <a:schemeClr val="bg2"/>
                </a:solidFill>
              </a:rPr>
              <a:t>virality score and viral yes/no</a:t>
            </a:r>
            <a:endParaRPr lang="en-US" sz="14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The pCTR model: predicting click appeal</a:t>
            </a:r>
            <a:endParaRPr lang="en-US" sz="3400" dirty="0"/>
          </a:p>
        </p:txBody>
      </p:sp>
      <p:sp>
        <p:nvSpPr>
          <p:cNvPr id="3" name="Text 1"/>
          <p:cNvSpPr txBox="1"/>
          <p:nvPr/>
        </p:nvSpPr>
        <p:spPr>
          <a:xfrm>
            <a:off x="548640" y="5760720"/>
            <a:ext cx="6766560" cy="320040"/>
          </a:xfrm>
          <a:prstGeom prst="rect">
            <a:avLst/>
          </a:prstGeom>
          <a:noFill/>
          <a:ln/>
        </p:spPr>
        <p:txBody>
          <a:bodyPr wrap="square" lIns="0" tIns="0" rIns="0" bIns="0" rtlCol="0" anchor="t"/>
          <a:lstStyle/>
          <a:p>
            <a:pPr marL="0" indent="0" algn="l">
              <a:buNone/>
            </a:pPr>
            <a:r>
              <a:rPr lang="en-US" sz="1200" dirty="0">
                <a:solidFill>
                  <a:schemeClr val="tx2"/>
                </a:solidFill>
              </a:rPr>
              <a:t>Figure 5.1: Validation scores of Random Forest and XGBoost</a:t>
            </a:r>
            <a:endParaRPr lang="en-US" sz="1200" dirty="0"/>
          </a:p>
        </p:txBody>
      </p:sp>
      <p:graphicFrame>
        <p:nvGraphicFramePr>
          <p:cNvPr id="4" name="Chart 0"/>
          <p:cNvGraphicFramePr/>
          <p:nvPr/>
        </p:nvGraphicFramePr>
        <p:xfrm>
          <a:off x="548640" y="1417320"/>
          <a:ext cx="67665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st F1 stat"/>
          <p:cNvSpPr/>
          <p:nvPr/>
        </p:nvSpPr>
        <p:spPr>
          <a:xfrm>
            <a:off x="7589520" y="1463040"/>
            <a:ext cx="1920240" cy="1554480"/>
          </a:xfrm>
          <a:prstGeom prst="rect">
            <a:avLst/>
          </a:prstGeom>
          <a:solidFill>
            <a:schemeClr val="tx1"/>
          </a:solidFill>
          <a:ln w="12700">
            <a:solidFill>
              <a:schemeClr val="tx1"/>
            </a:solidFill>
            <a:prstDash val="solid"/>
          </a:ln>
        </p:spPr>
        <p:txBody>
          <a:bodyPr/>
          <a:lstStyle/>
          <a:p>
            <a:endParaRPr lang="en-US"/>
          </a:p>
        </p:txBody>
      </p:sp>
      <p:sp>
        <p:nvSpPr>
          <p:cNvPr id="6" name="Text 3"/>
          <p:cNvSpPr txBox="1"/>
          <p:nvPr/>
        </p:nvSpPr>
        <p:spPr>
          <a:xfrm>
            <a:off x="7589520" y="1600200"/>
            <a:ext cx="1920240" cy="731520"/>
          </a:xfrm>
          <a:prstGeom prst="rect">
            <a:avLst/>
          </a:prstGeom>
          <a:noFill/>
          <a:ln/>
        </p:spPr>
        <p:txBody>
          <a:bodyPr wrap="square" lIns="0" tIns="0" rIns="0" bIns="0" rtlCol="0" anchor="t"/>
          <a:lstStyle/>
          <a:p>
            <a:pPr marL="0" indent="0" algn="ctr">
              <a:buNone/>
            </a:pPr>
            <a:r>
              <a:rPr lang="en-US" sz="4000" b="1" dirty="0">
                <a:solidFill>
                  <a:schemeClr val="bg1"/>
                </a:solidFill>
                <a:latin typeface="Times New Roman" pitchFamily="34" charset="0"/>
                <a:ea typeface="Times New Roman" pitchFamily="34" charset="-122"/>
                <a:cs typeface="Times New Roman" pitchFamily="34" charset="-120"/>
              </a:rPr>
              <a:t>0.69</a:t>
            </a:r>
            <a:endParaRPr lang="en-US" sz="4000" dirty="0"/>
          </a:p>
        </p:txBody>
      </p:sp>
      <p:sp>
        <p:nvSpPr>
          <p:cNvPr id="7" name="Text 4"/>
          <p:cNvSpPr txBox="1"/>
          <p:nvPr/>
        </p:nvSpPr>
        <p:spPr>
          <a:xfrm>
            <a:off x="7680960" y="2377440"/>
            <a:ext cx="1737360" cy="548640"/>
          </a:xfrm>
          <a:prstGeom prst="rect">
            <a:avLst/>
          </a:prstGeom>
          <a:noFill/>
          <a:ln/>
        </p:spPr>
        <p:txBody>
          <a:bodyPr wrap="square" lIns="0" tIns="0" rIns="0" bIns="0" rtlCol="0" anchor="t"/>
          <a:lstStyle/>
          <a:p>
            <a:pPr marL="0" indent="0" algn="ctr">
              <a:buNone/>
            </a:pPr>
            <a:r>
              <a:rPr lang="en-US" sz="1200" dirty="0">
                <a:solidFill>
                  <a:schemeClr val="bg2"/>
                </a:solidFill>
              </a:rPr>
              <a:t>F1 on unseen test data</a:t>
            </a:r>
            <a:endParaRPr lang="en-US" sz="1200" dirty="0"/>
          </a:p>
        </p:txBody>
      </p:sp>
      <p:sp>
        <p:nvSpPr>
          <p:cNvPr id="8" name="Test AUC stat"/>
          <p:cNvSpPr/>
          <p:nvPr/>
        </p:nvSpPr>
        <p:spPr>
          <a:xfrm>
            <a:off x="9692640" y="1463040"/>
            <a:ext cx="1920240" cy="1554480"/>
          </a:xfrm>
          <a:prstGeom prst="rect">
            <a:avLst/>
          </a:prstGeom>
          <a:solidFill>
            <a:schemeClr val="tx1"/>
          </a:solidFill>
          <a:ln w="12700">
            <a:solidFill>
              <a:schemeClr val="tx1"/>
            </a:solidFill>
            <a:prstDash val="solid"/>
          </a:ln>
        </p:spPr>
        <p:txBody>
          <a:bodyPr/>
          <a:lstStyle/>
          <a:p>
            <a:endParaRPr lang="en-US"/>
          </a:p>
        </p:txBody>
      </p:sp>
      <p:sp>
        <p:nvSpPr>
          <p:cNvPr id="9" name="Text 6"/>
          <p:cNvSpPr txBox="1"/>
          <p:nvPr/>
        </p:nvSpPr>
        <p:spPr>
          <a:xfrm>
            <a:off x="9692640" y="1600200"/>
            <a:ext cx="1920240" cy="731520"/>
          </a:xfrm>
          <a:prstGeom prst="rect">
            <a:avLst/>
          </a:prstGeom>
          <a:noFill/>
          <a:ln/>
        </p:spPr>
        <p:txBody>
          <a:bodyPr wrap="square" lIns="0" tIns="0" rIns="0" bIns="0" rtlCol="0" anchor="t"/>
          <a:lstStyle/>
          <a:p>
            <a:pPr marL="0" indent="0" algn="ctr">
              <a:buNone/>
            </a:pPr>
            <a:r>
              <a:rPr lang="en-US" sz="4000" b="1" dirty="0">
                <a:solidFill>
                  <a:schemeClr val="bg1"/>
                </a:solidFill>
                <a:latin typeface="Times New Roman" pitchFamily="34" charset="0"/>
                <a:ea typeface="Times New Roman" pitchFamily="34" charset="-122"/>
                <a:cs typeface="Times New Roman" pitchFamily="34" charset="-120"/>
              </a:rPr>
              <a:t>0.76</a:t>
            </a:r>
            <a:endParaRPr lang="en-US" sz="4000" dirty="0"/>
          </a:p>
        </p:txBody>
      </p:sp>
      <p:sp>
        <p:nvSpPr>
          <p:cNvPr id="10" name="Text 7"/>
          <p:cNvSpPr txBox="1"/>
          <p:nvPr/>
        </p:nvSpPr>
        <p:spPr>
          <a:xfrm>
            <a:off x="9784080" y="2377440"/>
            <a:ext cx="1737360" cy="548640"/>
          </a:xfrm>
          <a:prstGeom prst="rect">
            <a:avLst/>
          </a:prstGeom>
          <a:noFill/>
          <a:ln/>
        </p:spPr>
        <p:txBody>
          <a:bodyPr wrap="square" lIns="0" tIns="0" rIns="0" bIns="0" rtlCol="0" anchor="t"/>
          <a:lstStyle/>
          <a:p>
            <a:pPr marL="0" indent="0" algn="ctr">
              <a:buNone/>
            </a:pPr>
            <a:r>
              <a:rPr lang="en-US" sz="1200" dirty="0">
                <a:solidFill>
                  <a:schemeClr val="bg2"/>
                </a:solidFill>
              </a:rPr>
              <a:t>ROC-AUC on unseen test data</a:t>
            </a:r>
            <a:endParaRPr lang="en-US" sz="1200" dirty="0"/>
          </a:p>
        </p:txBody>
      </p:sp>
      <p:sp>
        <p:nvSpPr>
          <p:cNvPr id="11" name="Text 8"/>
          <p:cNvSpPr txBox="1"/>
          <p:nvPr/>
        </p:nvSpPr>
        <p:spPr>
          <a:xfrm>
            <a:off x="7589520" y="3291840"/>
            <a:ext cx="4023360" cy="1737360"/>
          </a:xfrm>
          <a:prstGeom prst="rect">
            <a:avLst/>
          </a:prstGeom>
          <a:noFill/>
          <a:ln/>
        </p:spPr>
        <p:txBody>
          <a:bodyPr wrap="square" lIns="0" tIns="0" rIns="0" bIns="0" rtlCol="0" anchor="t"/>
          <a:lstStyle/>
          <a:p>
            <a:pPr marL="342900" indent="-342900" algn="l">
              <a:spcAft>
                <a:spcPts val="600"/>
              </a:spcAft>
              <a:buSzPct val="100000"/>
              <a:buChar char="•"/>
            </a:pPr>
            <a:r>
              <a:rPr lang="en-US" sz="1500" dirty="0">
                <a:solidFill>
                  <a:schemeClr val="tx2"/>
                </a:solidFill>
              </a:rPr>
              <a:t>Random Forest won, so it became the pCTR scorer</a:t>
            </a:r>
            <a:endParaRPr lang="en-US" sz="1500" dirty="0"/>
          </a:p>
          <a:p>
            <a:pPr marL="342900" indent="-342900" algn="l">
              <a:spcAft>
                <a:spcPts val="600"/>
              </a:spcAft>
              <a:buSzPct val="100000"/>
              <a:buChar char="•"/>
            </a:pPr>
            <a:r>
              <a:rPr lang="en-US" sz="1500" dirty="0">
                <a:solidFill>
                  <a:schemeClr val="tx2"/>
                </a:solidFill>
              </a:rPr>
              <a:t>11 title features go in; a click-appeal probability comes out</a:t>
            </a:r>
            <a:endParaRPr lang="en-US" sz="1500" dirty="0"/>
          </a:p>
          <a:p>
            <a:pPr marL="342900" indent="-342900" algn="l">
              <a:spcAft>
                <a:spcPts val="600"/>
              </a:spcAft>
              <a:buSzPct val="100000"/>
              <a:buChar char="•"/>
            </a:pPr>
            <a:r>
              <a:rPr lang="en-US" sz="1500" dirty="0">
                <a:solidFill>
                  <a:schemeClr val="tx2"/>
                </a:solidFill>
              </a:rPr>
              <a:t>F1 balances precision and recall; ROC-AUC shows how well viral titles rank above non-viral ones</a:t>
            </a:r>
            <a:endParaRPr lang="en-US" sz="1500" dirty="0"/>
          </a:p>
        </p:txBody>
      </p:sp>
      <p:sp>
        <p:nvSpPr>
          <p:cNvPr id="12" name="Honest note"/>
          <p:cNvSpPr/>
          <p:nvPr/>
        </p:nvSpPr>
        <p:spPr>
          <a:xfrm>
            <a:off x="7589520" y="5166360"/>
            <a:ext cx="4023360" cy="960120"/>
          </a:xfrm>
          <a:prstGeom prst="rect">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7772400" y="5212080"/>
            <a:ext cx="3657600" cy="868680"/>
          </a:xfrm>
          <a:prstGeom prst="rect">
            <a:avLst/>
          </a:prstGeom>
          <a:noFill/>
          <a:ln/>
        </p:spPr>
        <p:txBody>
          <a:bodyPr wrap="square" lIns="0" tIns="0" rIns="0" bIns="0" rtlCol="0" anchor="ctr"/>
          <a:lstStyle/>
          <a:p>
            <a:pPr marL="0" indent="0" algn="l">
              <a:buNone/>
            </a:pPr>
            <a:r>
              <a:rPr lang="en-US" sz="1300" b="1" dirty="0">
                <a:solidFill>
                  <a:schemeClr val="accent1"/>
                </a:solidFill>
              </a:rPr>
              <a:t>Goal was F1 above 0.75 and AUC above 0.80. Not reached: the data is trending videos with a proxy label, not real CTR.</a:t>
            </a:r>
            <a:endParaRPr lang="en-US" sz="13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What drives the click-appeal prediction</a:t>
            </a:r>
            <a:endParaRPr lang="en-US" sz="3400" dirty="0"/>
          </a:p>
        </p:txBody>
      </p:sp>
      <p:pic>
        <p:nvPicPr>
          <p:cNvPr id="3" name="Feature importance chart" descr="Bar chart of the top 10 feature importances in the random forest model"/>
          <p:cNvPicPr>
            <a:picLocks noChangeAspect="1"/>
          </p:cNvPicPr>
          <p:nvPr/>
        </p:nvPicPr>
        <p:blipFill>
          <a:blip r:embed="rId3"/>
          <a:stretch>
            <a:fillRect/>
          </a:stretch>
        </p:blipFill>
        <p:spPr>
          <a:xfrm>
            <a:off x="548640" y="1508760"/>
            <a:ext cx="6583680" cy="4114800"/>
          </a:xfrm>
          <a:prstGeom prst="rect">
            <a:avLst/>
          </a:prstGeom>
        </p:spPr>
      </p:pic>
      <p:sp>
        <p:nvSpPr>
          <p:cNvPr id="4" name="Text 1"/>
          <p:cNvSpPr txBox="1"/>
          <p:nvPr/>
        </p:nvSpPr>
        <p:spPr>
          <a:xfrm>
            <a:off x="548640" y="5760720"/>
            <a:ext cx="6583680" cy="365760"/>
          </a:xfrm>
          <a:prstGeom prst="rect">
            <a:avLst/>
          </a:prstGeom>
          <a:noFill/>
          <a:ln/>
        </p:spPr>
        <p:txBody>
          <a:bodyPr wrap="square" lIns="0" tIns="0" rIns="0" bIns="0" rtlCol="0" anchor="t"/>
          <a:lstStyle/>
          <a:p>
            <a:pPr marL="0" indent="0" algn="l">
              <a:buNone/>
            </a:pPr>
            <a:r>
              <a:rPr lang="en-US" sz="1200" dirty="0">
                <a:solidFill>
                  <a:srgbClr val="6C757D"/>
                </a:solidFill>
              </a:rPr>
              <a:t>Figure 5.2: Top 10 feature importances of the Random Forest (higher bar = bigger influence)</a:t>
            </a:r>
            <a:endParaRPr lang="en-US" sz="1200" dirty="0"/>
          </a:p>
        </p:txBody>
      </p:sp>
      <p:sp>
        <p:nvSpPr>
          <p:cNvPr id="5" name="Text 2"/>
          <p:cNvSpPr txBox="1"/>
          <p:nvPr/>
        </p:nvSpPr>
        <p:spPr>
          <a:xfrm>
            <a:off x="7498080" y="1554480"/>
            <a:ext cx="4114800" cy="3291840"/>
          </a:xfrm>
          <a:prstGeom prst="rect">
            <a:avLst/>
          </a:prstGeom>
          <a:noFill/>
          <a:ln/>
        </p:spPr>
        <p:txBody>
          <a:bodyPr wrap="square" lIns="0" tIns="0" rIns="0" bIns="0" rtlCol="0" anchor="t"/>
          <a:lstStyle/>
          <a:p>
            <a:pPr marL="342900" indent="-342900" algn="l">
              <a:spcAft>
                <a:spcPts val="1200"/>
              </a:spcAft>
              <a:buSzPct val="100000"/>
              <a:buChar char="•"/>
            </a:pPr>
            <a:r>
              <a:rPr lang="en-US" sz="1600" dirty="0">
                <a:solidFill>
                  <a:schemeClr val="tx2"/>
                </a:solidFill>
              </a:rPr>
              <a:t>Title length matters most, which fits the idea of a length sweet spot [12]</a:t>
            </a:r>
            <a:endParaRPr lang="en-US" sz="1600" dirty="0"/>
          </a:p>
          <a:p>
            <a:pPr marL="342900" indent="-342900" algn="l">
              <a:spcAft>
                <a:spcPts val="1200"/>
              </a:spcAft>
              <a:buSzPct val="100000"/>
              <a:buChar char="•"/>
            </a:pPr>
            <a:r>
              <a:rPr lang="en-US" sz="1600" dirty="0">
                <a:solidFill>
                  <a:schemeClr val="tx2"/>
                </a:solidFill>
              </a:rPr>
              <a:t>Video category comes second, because the baseline varies by topic</a:t>
            </a:r>
            <a:endParaRPr lang="en-US" sz="1600" dirty="0"/>
          </a:p>
          <a:p>
            <a:pPr marL="342900" indent="-342900" algn="l">
              <a:spcAft>
                <a:spcPts val="1200"/>
              </a:spcAft>
              <a:buSzPct val="100000"/>
              <a:buChar char="•"/>
            </a:pPr>
            <a:r>
              <a:rPr lang="en-US" sz="1600" dirty="0">
                <a:solidFill>
                  <a:schemeClr val="tx2"/>
                </a:solidFill>
              </a:rPr>
              <a:t>First-word type, ALL-CAPS share and numbers all help</a:t>
            </a:r>
            <a:endParaRPr lang="en-US" sz="1600" dirty="0"/>
          </a:p>
          <a:p>
            <a:pPr marL="342900" indent="-342900" algn="l">
              <a:spcAft>
                <a:spcPts val="1200"/>
              </a:spcAft>
              <a:buSzPct val="100000"/>
              <a:buChar char="•"/>
            </a:pPr>
            <a:r>
              <a:rPr lang="en-US" sz="1600" dirty="0">
                <a:solidFill>
                  <a:schemeClr val="tx2"/>
                </a:solidFill>
              </a:rPr>
              <a:t>Sentiment (VADER) is mid-table; emoji and ! barely matter</a:t>
            </a:r>
            <a:endParaRPr lang="en-US" sz="1600" dirty="0"/>
          </a:p>
        </p:txBody>
      </p:sp>
      <p:sp>
        <p:nvSpPr>
          <p:cNvPr id="6" name="Takeaway card"/>
          <p:cNvSpPr/>
          <p:nvPr/>
        </p:nvSpPr>
        <p:spPr>
          <a:xfrm>
            <a:off x="7498080" y="4846320"/>
            <a:ext cx="4114800" cy="1280160"/>
          </a:xfrm>
          <a:prstGeom prst="rect">
            <a:avLst/>
          </a:prstGeom>
          <a:solidFill>
            <a:schemeClr val="tx1"/>
          </a:solidFill>
          <a:ln w="12700">
            <a:solidFill>
              <a:schemeClr val="tx1"/>
            </a:solidFill>
            <a:prstDash val="solid"/>
          </a:ln>
        </p:spPr>
        <p:txBody>
          <a:bodyPr/>
          <a:lstStyle/>
          <a:p>
            <a:endParaRPr lang="en-US"/>
          </a:p>
        </p:txBody>
      </p:sp>
      <p:sp>
        <p:nvSpPr>
          <p:cNvPr id="7" name="Text 4"/>
          <p:cNvSpPr txBox="1"/>
          <p:nvPr/>
        </p:nvSpPr>
        <p:spPr>
          <a:xfrm>
            <a:off x="7772400" y="4846320"/>
            <a:ext cx="3566160" cy="1280160"/>
          </a:xfrm>
          <a:prstGeom prst="rect">
            <a:avLst/>
          </a:prstGeom>
          <a:noFill/>
          <a:ln/>
        </p:spPr>
        <p:txBody>
          <a:bodyPr wrap="square" lIns="0" tIns="0" rIns="0" bIns="0" rtlCol="0" anchor="ctr"/>
          <a:lstStyle/>
          <a:p>
            <a:pPr marL="0" indent="0" algn="l">
              <a:buNone/>
            </a:pPr>
            <a:r>
              <a:rPr lang="en-US" sz="1700" b="1" dirty="0">
                <a:solidFill>
                  <a:schemeClr val="bg1"/>
                </a:solidFill>
              </a:rPr>
              <a:t>Structure and length shape click appeal more than any single trick.</a:t>
            </a:r>
            <a:endParaRPr lang="en-US" sz="17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Testing the full system on 20 video Scripts</a:t>
            </a:r>
            <a:endParaRPr lang="en-US" sz="3400" dirty="0"/>
          </a:p>
        </p:txBody>
      </p:sp>
      <p:sp>
        <p:nvSpPr>
          <p:cNvPr id="3" name="Text 1"/>
          <p:cNvSpPr txBox="1"/>
          <p:nvPr/>
        </p:nvSpPr>
        <p:spPr>
          <a:xfrm>
            <a:off x="548640" y="1417320"/>
            <a:ext cx="7680960" cy="320040"/>
          </a:xfrm>
          <a:prstGeom prst="rect">
            <a:avLst/>
          </a:prstGeom>
          <a:noFill/>
          <a:ln/>
        </p:spPr>
        <p:txBody>
          <a:bodyPr wrap="square" lIns="0" tIns="0" rIns="0" bIns="0" rtlCol="0" anchor="t"/>
          <a:lstStyle/>
          <a:p>
            <a:pPr marL="0" indent="0" algn="l">
              <a:buNone/>
            </a:pPr>
            <a:r>
              <a:rPr lang="en-US" sz="1200" dirty="0">
                <a:solidFill>
                  <a:schemeClr val="tx2"/>
                </a:solidFill>
              </a:rPr>
              <a:t>Table 5.1: System evaluation results on 20 test videos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680960" cy="3200400"/>
        </p:xfrm>
        <a:graphic>
          <a:graphicData uri="http://schemas.openxmlformats.org/drawingml/2006/table">
            <a:tbl>
              <a:tblPr/>
              <a:tblGrid>
                <a:gridCol w="3566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1B1B1F"/>
                          </a:solidFill>
                        </a:rPr>
                        <a:t>What was measured</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buNone/>
                      </a:pPr>
                      <a:r>
                        <a:rPr lang="en-US" sz="1400" b="1" dirty="0">
                          <a:solidFill>
                            <a:srgbClr val="1B1B1F"/>
                          </a:solidFill>
                        </a:rPr>
                        <a:t>Result</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buNone/>
                      </a:pPr>
                      <a:r>
                        <a:rPr lang="en-US" sz="1400" b="1" dirty="0">
                          <a:solidFill>
                            <a:srgbClr val="1B1B1F"/>
                          </a:solidFill>
                        </a:rPr>
                        <a:t>Target</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buNone/>
                      </a:pPr>
                      <a:r>
                        <a:rPr lang="en-US" sz="1400" b="1" dirty="0">
                          <a:solidFill>
                            <a:srgbClr val="1B1B1F"/>
                          </a:solidFill>
                        </a:rPr>
                        <a:t>Status</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B1B1F"/>
                          </a:solidFill>
                        </a:rPr>
                        <a:t>Titles passing the truth check</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1B1F"/>
                          </a:solidFill>
                        </a:rPr>
                        <a:t>94%</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A3A44"/>
                          </a:solidFill>
                        </a:rPr>
                        <a:t>&gt; 60%</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A9D8F"/>
                          </a:solidFill>
                        </a:rPr>
                        <a:t>Met</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B1B1F"/>
                          </a:solidFill>
                        </a:rPr>
                        <a:t>Click appeal of the top title (pCTR)</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1B1F"/>
                          </a:solidFill>
                        </a:rPr>
                        <a:t>0.69</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A3A44"/>
                          </a:solidFill>
                        </a:rPr>
                        <a:t>&gt; 6%</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A9D8F"/>
                          </a:solidFill>
                        </a:rPr>
                        <a:t>Met</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B1B1F"/>
                          </a:solidFill>
                        </a:rPr>
                        <a:t>Emotional intensity (VADER)</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1B1F"/>
                          </a:solidFill>
                        </a:rPr>
                        <a:t>0.26</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A3A44"/>
                          </a:solidFill>
                        </a:rPr>
                        <a:t>&gt; 0.4</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E63946"/>
                          </a:solidFill>
                        </a:rPr>
                        <a:t>Not met</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rgbClr val="1B1B1F"/>
                          </a:solidFill>
                        </a:rPr>
                        <a:t>Closeness to the video (BERTScore)</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1B1F"/>
                          </a:solidFill>
                        </a:rPr>
                        <a:t>0.87</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A3A44"/>
                          </a:solidFill>
                        </a:rPr>
                        <a:t>0.35 - 0.60</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E63946"/>
                          </a:solidFill>
                        </a:rPr>
                        <a:t>Above range</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rgbClr val="1B1B1F"/>
                          </a:solidFill>
                        </a:rPr>
                        <a:t>Variety of titles (Self-BLEU, lower is better)</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1B1F"/>
                          </a:solidFill>
                        </a:rPr>
                        <a:t>0.05</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A3A44"/>
                          </a:solidFill>
                        </a:rPr>
                        <a:t>&lt; 0.4</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A9D8F"/>
                          </a:solidFill>
                        </a:rPr>
                        <a:t>Met</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400" dirty="0">
                          <a:solidFill>
                            <a:srgbClr val="1B1B1F"/>
                          </a:solidFill>
                        </a:rPr>
                        <a:t>Speed, 95th percentile</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1B1F"/>
                          </a:solidFill>
                        </a:rPr>
                        <a:t>9.95 s</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A3A44"/>
                          </a:solidFill>
                        </a:rPr>
                        <a:t>&lt; 10 s</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A9D8F"/>
                          </a:solidFill>
                        </a:rPr>
                        <a:t>Met</a:t>
                      </a:r>
                      <a:endParaRPr lang="en-US" sz="1400" dirty="0"/>
                    </a:p>
                  </a:txBody>
                  <a:tcPr marT="0" marB="0" anchor="ctr">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tat test videos"/>
          <p:cNvSpPr/>
          <p:nvPr/>
        </p:nvSpPr>
        <p:spPr>
          <a:xfrm>
            <a:off x="8503920" y="1463040"/>
            <a:ext cx="1463040" cy="1645920"/>
          </a:xfrm>
          <a:prstGeom prst="rect">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8503920" y="1645920"/>
            <a:ext cx="1463040" cy="731520"/>
          </a:xfrm>
          <a:prstGeom prst="rect">
            <a:avLst/>
          </a:prstGeom>
          <a:noFill/>
          <a:ln/>
        </p:spPr>
        <p:txBody>
          <a:bodyPr wrap="square" lIns="0" tIns="0" rIns="0" bIns="0" rtlCol="0" anchor="t"/>
          <a:lstStyle/>
          <a:p>
            <a:pPr marL="0" indent="0" algn="ctr">
              <a:buNone/>
            </a:pPr>
            <a:r>
              <a:rPr lang="en-US" sz="4000" b="1" dirty="0">
                <a:solidFill>
                  <a:schemeClr val="accent1"/>
                </a:solidFill>
                <a:latin typeface="Times New Roman" pitchFamily="34" charset="0"/>
                <a:ea typeface="Times New Roman" pitchFamily="34" charset="-122"/>
                <a:cs typeface="Times New Roman" pitchFamily="34" charset="-120"/>
              </a:rPr>
              <a:t>20</a:t>
            </a:r>
            <a:endParaRPr lang="en-US" sz="4000" dirty="0"/>
          </a:p>
        </p:txBody>
      </p:sp>
      <p:sp>
        <p:nvSpPr>
          <p:cNvPr id="7" name="Text 4"/>
          <p:cNvSpPr txBox="1"/>
          <p:nvPr/>
        </p:nvSpPr>
        <p:spPr>
          <a:xfrm>
            <a:off x="8595360" y="2423160"/>
            <a:ext cx="1280160" cy="594360"/>
          </a:xfrm>
          <a:prstGeom prst="rect">
            <a:avLst/>
          </a:prstGeom>
          <a:noFill/>
          <a:ln/>
        </p:spPr>
        <p:txBody>
          <a:bodyPr wrap="square" lIns="0" tIns="0" rIns="0" bIns="0" rtlCol="0" anchor="t"/>
          <a:lstStyle/>
          <a:p>
            <a:pPr marL="0" indent="0" algn="ctr">
              <a:buNone/>
            </a:pPr>
            <a:r>
              <a:rPr lang="en-US" sz="1300" dirty="0">
                <a:solidFill>
                  <a:schemeClr val="tx2"/>
                </a:solidFill>
              </a:rPr>
              <a:t>test videos</a:t>
            </a:r>
            <a:endParaRPr lang="en-US" sz="1300" dirty="0"/>
          </a:p>
        </p:txBody>
      </p:sp>
      <p:sp>
        <p:nvSpPr>
          <p:cNvPr id="8" name="Stat titles generated"/>
          <p:cNvSpPr/>
          <p:nvPr/>
        </p:nvSpPr>
        <p:spPr>
          <a:xfrm>
            <a:off x="10104120" y="1463040"/>
            <a:ext cx="1463040" cy="1645920"/>
          </a:xfrm>
          <a:prstGeom prst="rect">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10104120" y="1645920"/>
            <a:ext cx="1463040" cy="731520"/>
          </a:xfrm>
          <a:prstGeom prst="rect">
            <a:avLst/>
          </a:prstGeom>
          <a:noFill/>
          <a:ln/>
        </p:spPr>
        <p:txBody>
          <a:bodyPr wrap="square" lIns="0" tIns="0" rIns="0" bIns="0" rtlCol="0" anchor="t"/>
          <a:lstStyle/>
          <a:p>
            <a:pPr marL="0" indent="0" algn="ctr">
              <a:buNone/>
            </a:pPr>
            <a:r>
              <a:rPr lang="en-US" sz="4000" b="1" dirty="0">
                <a:solidFill>
                  <a:schemeClr val="accent1"/>
                </a:solidFill>
                <a:latin typeface="Times New Roman" pitchFamily="34" charset="0"/>
                <a:ea typeface="Times New Roman" pitchFamily="34" charset="-122"/>
                <a:cs typeface="Times New Roman" pitchFamily="34" charset="-120"/>
              </a:rPr>
              <a:t>100</a:t>
            </a:r>
            <a:endParaRPr lang="en-US" sz="4000" dirty="0"/>
          </a:p>
        </p:txBody>
      </p:sp>
      <p:sp>
        <p:nvSpPr>
          <p:cNvPr id="10" name="Text 7"/>
          <p:cNvSpPr txBox="1"/>
          <p:nvPr/>
        </p:nvSpPr>
        <p:spPr>
          <a:xfrm>
            <a:off x="10195560" y="2423160"/>
            <a:ext cx="1280160" cy="594360"/>
          </a:xfrm>
          <a:prstGeom prst="rect">
            <a:avLst/>
          </a:prstGeom>
          <a:noFill/>
          <a:ln/>
        </p:spPr>
        <p:txBody>
          <a:bodyPr wrap="square" lIns="0" tIns="0" rIns="0" bIns="0" rtlCol="0" anchor="t"/>
          <a:lstStyle/>
          <a:p>
            <a:pPr marL="0" indent="0" algn="ctr">
              <a:buNone/>
            </a:pPr>
            <a:r>
              <a:rPr lang="en-US" sz="1300" dirty="0">
                <a:solidFill>
                  <a:schemeClr val="tx2"/>
                </a:solidFill>
              </a:rPr>
              <a:t>titles generated</a:t>
            </a:r>
            <a:endParaRPr lang="en-US" sz="1300" dirty="0"/>
          </a:p>
        </p:txBody>
      </p:sp>
      <p:sp>
        <p:nvSpPr>
          <p:cNvPr id="11" name="Stat errors"/>
          <p:cNvSpPr/>
          <p:nvPr/>
        </p:nvSpPr>
        <p:spPr>
          <a:xfrm>
            <a:off x="8503920" y="3291840"/>
            <a:ext cx="1463040" cy="1645920"/>
          </a:xfrm>
          <a:prstGeom prst="rect">
            <a:avLst/>
          </a:prstGeom>
          <a:solidFill>
            <a:schemeClr val="bg2"/>
          </a:solidFill>
          <a:ln w="12700">
            <a:solidFill>
              <a:schemeClr val="bg2"/>
            </a:solidFill>
            <a:prstDash val="solid"/>
          </a:ln>
        </p:spPr>
        <p:txBody>
          <a:bodyPr/>
          <a:lstStyle/>
          <a:p>
            <a:endParaRPr lang="en-US"/>
          </a:p>
        </p:txBody>
      </p:sp>
      <p:sp>
        <p:nvSpPr>
          <p:cNvPr id="4" name="Text 9"/>
          <p:cNvSpPr txBox="1"/>
          <p:nvPr/>
        </p:nvSpPr>
        <p:spPr>
          <a:xfrm>
            <a:off x="8503920" y="3474720"/>
            <a:ext cx="1463040" cy="731520"/>
          </a:xfrm>
          <a:prstGeom prst="rect">
            <a:avLst/>
          </a:prstGeom>
          <a:noFill/>
          <a:ln/>
        </p:spPr>
        <p:txBody>
          <a:bodyPr wrap="square" lIns="0" tIns="0" rIns="0" bIns="0" rtlCol="0" anchor="t"/>
          <a:lstStyle/>
          <a:p>
            <a:pPr marL="0" indent="0" algn="ctr">
              <a:buNone/>
            </a:pPr>
            <a:r>
              <a:rPr lang="en-US" sz="4000" b="1" dirty="0">
                <a:solidFill>
                  <a:schemeClr val="accent1"/>
                </a:solidFill>
                <a:latin typeface="Times New Roman" pitchFamily="34" charset="0"/>
                <a:ea typeface="Times New Roman" pitchFamily="34" charset="-122"/>
                <a:cs typeface="Times New Roman" pitchFamily="34" charset="-120"/>
              </a:rPr>
              <a:t>0</a:t>
            </a:r>
            <a:endParaRPr lang="en-US" sz="4000" dirty="0"/>
          </a:p>
        </p:txBody>
      </p:sp>
      <p:sp>
        <p:nvSpPr>
          <p:cNvPr id="13" name="Text 10"/>
          <p:cNvSpPr txBox="1"/>
          <p:nvPr/>
        </p:nvSpPr>
        <p:spPr>
          <a:xfrm>
            <a:off x="8595360" y="4251960"/>
            <a:ext cx="1280160" cy="594360"/>
          </a:xfrm>
          <a:prstGeom prst="rect">
            <a:avLst/>
          </a:prstGeom>
          <a:noFill/>
          <a:ln/>
        </p:spPr>
        <p:txBody>
          <a:bodyPr wrap="square" lIns="0" tIns="0" rIns="0" bIns="0" rtlCol="0" anchor="t"/>
          <a:lstStyle/>
          <a:p>
            <a:pPr marL="0" indent="0" algn="ctr">
              <a:buNone/>
            </a:pPr>
            <a:r>
              <a:rPr lang="en-US" sz="1300" dirty="0">
                <a:solidFill>
                  <a:schemeClr val="tx2"/>
                </a:solidFill>
              </a:rPr>
              <a:t>errors</a:t>
            </a:r>
            <a:endParaRPr lang="en-US" sz="1300" dirty="0"/>
          </a:p>
        </p:txBody>
      </p:sp>
      <p:sp>
        <p:nvSpPr>
          <p:cNvPr id="14" name="Stat titles rejected as untrue"/>
          <p:cNvSpPr/>
          <p:nvPr/>
        </p:nvSpPr>
        <p:spPr>
          <a:xfrm>
            <a:off x="10104120" y="3291840"/>
            <a:ext cx="1463040" cy="1645920"/>
          </a:xfrm>
          <a:prstGeom prst="rect">
            <a:avLst/>
          </a:prstGeom>
          <a:solidFill>
            <a:schemeClr val="bg2"/>
          </a:solidFill>
          <a:ln w="12700">
            <a:solidFill>
              <a:schemeClr val="bg2"/>
            </a:solidFill>
            <a:prstDash val="solid"/>
          </a:ln>
        </p:spPr>
        <p:txBody>
          <a:bodyPr/>
          <a:lstStyle/>
          <a:p>
            <a:endParaRPr lang="en-US"/>
          </a:p>
        </p:txBody>
      </p:sp>
      <p:sp>
        <p:nvSpPr>
          <p:cNvPr id="15" name="Text 12"/>
          <p:cNvSpPr txBox="1"/>
          <p:nvPr/>
        </p:nvSpPr>
        <p:spPr>
          <a:xfrm>
            <a:off x="10104120" y="3474720"/>
            <a:ext cx="1463040" cy="731520"/>
          </a:xfrm>
          <a:prstGeom prst="rect">
            <a:avLst/>
          </a:prstGeom>
          <a:noFill/>
          <a:ln/>
        </p:spPr>
        <p:txBody>
          <a:bodyPr wrap="square" lIns="0" tIns="0" rIns="0" bIns="0" rtlCol="0" anchor="t"/>
          <a:lstStyle/>
          <a:p>
            <a:pPr marL="0" indent="0" algn="ctr">
              <a:buNone/>
            </a:pPr>
            <a:r>
              <a:rPr lang="en-US" sz="4000" b="1" dirty="0">
                <a:solidFill>
                  <a:schemeClr val="accent1"/>
                </a:solidFill>
                <a:latin typeface="Times New Roman" pitchFamily="34" charset="0"/>
                <a:ea typeface="Times New Roman" pitchFamily="34" charset="-122"/>
                <a:cs typeface="Times New Roman" pitchFamily="34" charset="-120"/>
              </a:rPr>
              <a:t>6</a:t>
            </a:r>
            <a:endParaRPr lang="en-US" sz="4000" dirty="0"/>
          </a:p>
        </p:txBody>
      </p:sp>
      <p:sp>
        <p:nvSpPr>
          <p:cNvPr id="16" name="Text 13"/>
          <p:cNvSpPr txBox="1"/>
          <p:nvPr/>
        </p:nvSpPr>
        <p:spPr>
          <a:xfrm>
            <a:off x="10195560" y="4251960"/>
            <a:ext cx="1280160" cy="594360"/>
          </a:xfrm>
          <a:prstGeom prst="rect">
            <a:avLst/>
          </a:prstGeom>
          <a:noFill/>
          <a:ln/>
        </p:spPr>
        <p:txBody>
          <a:bodyPr wrap="square" lIns="0" tIns="0" rIns="0" bIns="0" rtlCol="0" anchor="t"/>
          <a:lstStyle/>
          <a:p>
            <a:pPr marL="0" indent="0" algn="ctr">
              <a:buNone/>
            </a:pPr>
            <a:r>
              <a:rPr lang="en-US" sz="1300" dirty="0">
                <a:solidFill>
                  <a:schemeClr val="tx2"/>
                </a:solidFill>
              </a:rPr>
              <a:t>titles rejected as untrue</a:t>
            </a:r>
            <a:endParaRPr lang="en-US" sz="1300" dirty="0"/>
          </a:p>
        </p:txBody>
      </p:sp>
      <p:sp>
        <p:nvSpPr>
          <p:cNvPr id="17" name="Reading note"/>
          <p:cNvSpPr/>
          <p:nvPr/>
        </p:nvSpPr>
        <p:spPr>
          <a:xfrm>
            <a:off x="548640" y="5166360"/>
            <a:ext cx="11064240" cy="960120"/>
          </a:xfrm>
          <a:prstGeom prst="rect">
            <a:avLst/>
          </a:prstGeom>
          <a:solidFill>
            <a:schemeClr val="bg2"/>
          </a:solidFill>
          <a:ln w="12700">
            <a:solidFill>
              <a:schemeClr val="bg2"/>
            </a:solidFill>
            <a:prstDash val="solid"/>
          </a:ln>
        </p:spPr>
        <p:txBody>
          <a:bodyPr/>
          <a:lstStyle/>
          <a:p>
            <a:endParaRPr lang="en-US"/>
          </a:p>
        </p:txBody>
      </p:sp>
      <p:sp>
        <p:nvSpPr>
          <p:cNvPr id="18" name="Text 15"/>
          <p:cNvSpPr txBox="1"/>
          <p:nvPr/>
        </p:nvSpPr>
        <p:spPr>
          <a:xfrm>
            <a:off x="777240" y="5166360"/>
            <a:ext cx="10607040" cy="960120"/>
          </a:xfrm>
          <a:prstGeom prst="rect">
            <a:avLst/>
          </a:prstGeom>
          <a:noFill/>
          <a:ln/>
        </p:spPr>
        <p:txBody>
          <a:bodyPr wrap="square" lIns="0" tIns="0" rIns="0" bIns="0" rtlCol="0" anchor="ctr"/>
          <a:lstStyle/>
          <a:p>
            <a:pPr marL="0" indent="0" algn="l">
              <a:buNone/>
            </a:pPr>
            <a:r>
              <a:rPr lang="en-US" sz="1500" dirty="0">
                <a:solidFill>
                  <a:schemeClr val="tx2"/>
                </a:solidFill>
              </a:rPr>
              <a:t>The titles are truthful, diverse and fast. Emotion is milder than planned, and they stay very close to the video's meaning (above the planned similarity range).</a:t>
            </a:r>
            <a:endParaRPr lang="en-US" sz="15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Do real people prefer the titles? (29 respondents)</a:t>
            </a:r>
            <a:endParaRPr lang="en-US" sz="3400" dirty="0"/>
          </a:p>
        </p:txBody>
      </p:sp>
      <p:sp>
        <p:nvSpPr>
          <p:cNvPr id="3" name="Text 1"/>
          <p:cNvSpPr txBox="1"/>
          <p:nvPr/>
        </p:nvSpPr>
        <p:spPr>
          <a:xfrm>
            <a:off x="548640" y="5760720"/>
            <a:ext cx="7132320" cy="320040"/>
          </a:xfrm>
          <a:prstGeom prst="rect">
            <a:avLst/>
          </a:prstGeom>
          <a:noFill/>
          <a:ln/>
        </p:spPr>
        <p:txBody>
          <a:bodyPr wrap="square" lIns="0" tIns="0" rIns="0" bIns="0" rtlCol="0" anchor="t"/>
          <a:lstStyle/>
          <a:p>
            <a:pPr marL="0" indent="0" algn="l">
              <a:buNone/>
            </a:pPr>
            <a:r>
              <a:rPr lang="en-US" sz="1200" dirty="0">
                <a:solidFill>
                  <a:schemeClr val="tx2"/>
                </a:solidFill>
              </a:rPr>
              <a:t>Figure 5.3: Average survey ratings (1 to 5) by title type, n = 29</a:t>
            </a:r>
            <a:endParaRPr lang="en-US" sz="1200" dirty="0"/>
          </a:p>
        </p:txBody>
      </p:sp>
      <p:graphicFrame>
        <p:nvGraphicFramePr>
          <p:cNvPr id="4" name="Chart 0"/>
          <p:cNvGraphicFramePr/>
          <p:nvPr/>
        </p:nvGraphicFramePr>
        <p:xfrm>
          <a:off x="548640" y="141732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046720" y="1554480"/>
            <a:ext cx="3566160" cy="2560320"/>
          </a:xfrm>
          <a:prstGeom prst="rect">
            <a:avLst/>
          </a:prstGeom>
          <a:noFill/>
          <a:ln/>
        </p:spPr>
        <p:txBody>
          <a:bodyPr wrap="square" lIns="0" tIns="0" rIns="0" bIns="0" rtlCol="0" anchor="t"/>
          <a:lstStyle/>
          <a:p>
            <a:pPr marL="342900" indent="-342900" algn="l">
              <a:spcAft>
                <a:spcPts val="1000"/>
              </a:spcAft>
              <a:buSzPct val="100000"/>
              <a:buChar char="•"/>
            </a:pPr>
            <a:r>
              <a:rPr lang="en-US" sz="1600" dirty="0">
                <a:solidFill>
                  <a:schemeClr val="tx2"/>
                </a:solidFill>
              </a:rPr>
              <a:t>My system scored highest on curiosity and emotional impact</a:t>
            </a:r>
            <a:endParaRPr lang="en-US" sz="1600" dirty="0"/>
          </a:p>
          <a:p>
            <a:pPr marL="342900" indent="-342900" algn="l">
              <a:spcAft>
                <a:spcPts val="1000"/>
              </a:spcAft>
              <a:buSzPct val="100000"/>
              <a:buChar char="•"/>
            </a:pPr>
            <a:r>
              <a:rPr lang="en-US" sz="1600" dirty="0">
                <a:solidFill>
                  <a:schemeClr val="tx2"/>
                </a:solidFill>
              </a:rPr>
              <a:t>The plain descriptive title was clearer (3.71 vs 3.55)</a:t>
            </a:r>
            <a:endParaRPr lang="en-US" sz="1600" dirty="0"/>
          </a:p>
          <a:p>
            <a:pPr marL="342900" indent="-342900" algn="l">
              <a:spcAft>
                <a:spcPts val="1000"/>
              </a:spcAft>
              <a:buSzPct val="100000"/>
              <a:buChar char="•"/>
            </a:pPr>
            <a:r>
              <a:rPr lang="en-US" sz="1600" dirty="0">
                <a:solidFill>
                  <a:schemeClr val="tx2"/>
                </a:solidFill>
              </a:rPr>
              <a:t>Trust was tied with the descriptive title (3.51)</a:t>
            </a:r>
            <a:endParaRPr lang="en-US" sz="1600" dirty="0"/>
          </a:p>
        </p:txBody>
      </p:sp>
      <p:sp>
        <p:nvSpPr>
          <p:cNvPr id="6" name="Significance card"/>
          <p:cNvSpPr/>
          <p:nvPr/>
        </p:nvSpPr>
        <p:spPr>
          <a:xfrm>
            <a:off x="8046720" y="4160520"/>
            <a:ext cx="3566160" cy="1920240"/>
          </a:xfrm>
          <a:prstGeom prst="rect">
            <a:avLst/>
          </a:prstGeom>
          <a:solidFill>
            <a:schemeClr val="tx1"/>
          </a:solidFill>
          <a:ln w="12700">
            <a:solidFill>
              <a:schemeClr val="tx1"/>
            </a:solidFill>
            <a:prstDash val="solid"/>
          </a:ln>
        </p:spPr>
        <p:txBody>
          <a:bodyPr/>
          <a:lstStyle/>
          <a:p>
            <a:endParaRPr lang="en-US"/>
          </a:p>
        </p:txBody>
      </p:sp>
      <p:sp>
        <p:nvSpPr>
          <p:cNvPr id="7" name="Text 4"/>
          <p:cNvSpPr txBox="1"/>
          <p:nvPr/>
        </p:nvSpPr>
        <p:spPr>
          <a:xfrm>
            <a:off x="8321040" y="4297680"/>
            <a:ext cx="3017520" cy="365760"/>
          </a:xfrm>
          <a:prstGeom prst="rect">
            <a:avLst/>
          </a:prstGeom>
          <a:noFill/>
          <a:ln/>
        </p:spPr>
        <p:txBody>
          <a:bodyPr wrap="square" lIns="0" tIns="0" rIns="0" bIns="0" rtlCol="0" anchor="t"/>
          <a:lstStyle/>
          <a:p>
            <a:pPr marL="0" indent="0" algn="l">
              <a:buNone/>
            </a:pPr>
            <a:r>
              <a:rPr lang="en-US" sz="1500" b="1" dirty="0">
                <a:solidFill>
                  <a:schemeClr val="accent3"/>
                </a:solidFill>
              </a:rPr>
              <a:t>Not statistically significant</a:t>
            </a:r>
            <a:endParaRPr lang="en-US" sz="1500" dirty="0"/>
          </a:p>
        </p:txBody>
      </p:sp>
      <p:sp>
        <p:nvSpPr>
          <p:cNvPr id="8" name="Text 5"/>
          <p:cNvSpPr txBox="1"/>
          <p:nvPr/>
        </p:nvSpPr>
        <p:spPr>
          <a:xfrm>
            <a:off x="8321040" y="4709160"/>
            <a:ext cx="3017520" cy="1280160"/>
          </a:xfrm>
          <a:prstGeom prst="rect">
            <a:avLst/>
          </a:prstGeom>
          <a:noFill/>
          <a:ln/>
        </p:spPr>
        <p:txBody>
          <a:bodyPr wrap="square" lIns="0" tIns="0" rIns="0" bIns="0" rtlCol="0" anchor="t"/>
          <a:lstStyle/>
          <a:p>
            <a:pPr marL="0" indent="0" algn="l">
              <a:buNone/>
            </a:pPr>
            <a:r>
              <a:rPr lang="en-US" sz="1400" dirty="0">
                <a:solidFill>
                  <a:schemeClr val="bg2"/>
                </a:solidFill>
              </a:rPr>
              <a:t>All comparisons had p &gt; 0.1. This was a small pilot of 3 videos, so it hints at a trend but does not prove one.</a:t>
            </a:r>
            <a:endParaRPr lang="en-US" sz="14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AI-as-a-judge scoring on 20 videos</a:t>
            </a:r>
            <a:endParaRPr lang="en-US" sz="3400" dirty="0"/>
          </a:p>
        </p:txBody>
      </p:sp>
      <p:sp>
        <p:nvSpPr>
          <p:cNvPr id="3" name="Text 1"/>
          <p:cNvSpPr txBox="1"/>
          <p:nvPr/>
        </p:nvSpPr>
        <p:spPr>
          <a:xfrm>
            <a:off x="548640" y="5760720"/>
            <a:ext cx="7132320" cy="320040"/>
          </a:xfrm>
          <a:prstGeom prst="rect">
            <a:avLst/>
          </a:prstGeom>
          <a:noFill/>
          <a:ln/>
        </p:spPr>
        <p:txBody>
          <a:bodyPr wrap="square" lIns="0" tIns="0" rIns="0" bIns="0" rtlCol="0" anchor="t"/>
          <a:lstStyle/>
          <a:p>
            <a:pPr marL="0" indent="0" algn="l">
              <a:buNone/>
            </a:pPr>
            <a:r>
              <a:rPr lang="en-US" sz="1200" dirty="0">
                <a:solidFill>
                  <a:schemeClr val="tx2"/>
                </a:solidFill>
              </a:rPr>
              <a:t>Figure 5.4: Average LLM-judge scores (1 to 5) by title type, 20 videos</a:t>
            </a:r>
            <a:endParaRPr lang="en-US" sz="1200" dirty="0"/>
          </a:p>
        </p:txBody>
      </p:sp>
      <p:graphicFrame>
        <p:nvGraphicFramePr>
          <p:cNvPr id="4" name="Chart 0"/>
          <p:cNvGraphicFramePr/>
          <p:nvPr/>
        </p:nvGraphicFramePr>
        <p:xfrm>
          <a:off x="548640" y="141732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046720" y="1554480"/>
            <a:ext cx="3566160" cy="2651760"/>
          </a:xfrm>
          <a:prstGeom prst="rect">
            <a:avLst/>
          </a:prstGeom>
          <a:noFill/>
          <a:ln/>
        </p:spPr>
        <p:txBody>
          <a:bodyPr wrap="square" lIns="0" tIns="0" rIns="0" bIns="0" rtlCol="0" anchor="t"/>
          <a:lstStyle/>
          <a:p>
            <a:pPr marL="342900" indent="-342900" algn="l">
              <a:spcAft>
                <a:spcPts val="1000"/>
              </a:spcAft>
              <a:buSzPct val="100000"/>
              <a:buChar char="•"/>
            </a:pPr>
            <a:r>
              <a:rPr lang="en-US" sz="1500" dirty="0">
                <a:solidFill>
                  <a:schemeClr val="tx2"/>
                </a:solidFill>
              </a:rPr>
              <a:t>Beats the descriptive title clearly on curiosity, urgency and overall (p &lt; 0.002)</a:t>
            </a:r>
            <a:endParaRPr lang="en-US" sz="1500" dirty="0"/>
          </a:p>
          <a:p>
            <a:pPr marL="342900" indent="-342900" algn="l">
              <a:spcAft>
                <a:spcPts val="1000"/>
              </a:spcAft>
              <a:buSzPct val="100000"/>
              <a:buChar char="•"/>
            </a:pPr>
            <a:r>
              <a:rPr lang="en-US" sz="1500" dirty="0">
                <a:solidFill>
                  <a:schemeClr val="tx2"/>
                </a:solidFill>
              </a:rPr>
              <a:t>Roughly ties the plain AI prompt, which also did well; that one scored higher on relevance (p = 0.005)</a:t>
            </a:r>
            <a:endParaRPr lang="en-US" sz="1500" dirty="0"/>
          </a:p>
        </p:txBody>
      </p:sp>
      <p:sp>
        <p:nvSpPr>
          <p:cNvPr id="6" name="Reliability card"/>
          <p:cNvSpPr/>
          <p:nvPr/>
        </p:nvSpPr>
        <p:spPr>
          <a:xfrm>
            <a:off x="8046720" y="4160520"/>
            <a:ext cx="3566160" cy="1920240"/>
          </a:xfrm>
          <a:prstGeom prst="rect">
            <a:avLst/>
          </a:prstGeom>
          <a:solidFill>
            <a:schemeClr val="tx1"/>
          </a:solidFill>
          <a:ln w="12700">
            <a:solidFill>
              <a:schemeClr val="tx1"/>
            </a:solidFill>
            <a:prstDash val="solid"/>
          </a:ln>
        </p:spPr>
        <p:txBody>
          <a:bodyPr/>
          <a:lstStyle/>
          <a:p>
            <a:endParaRPr lang="en-US"/>
          </a:p>
        </p:txBody>
      </p:sp>
      <p:sp>
        <p:nvSpPr>
          <p:cNvPr id="7" name="Text 4"/>
          <p:cNvSpPr txBox="1"/>
          <p:nvPr/>
        </p:nvSpPr>
        <p:spPr>
          <a:xfrm>
            <a:off x="8321040" y="4297680"/>
            <a:ext cx="3017520" cy="365760"/>
          </a:xfrm>
          <a:prstGeom prst="rect">
            <a:avLst/>
          </a:prstGeom>
          <a:noFill/>
          <a:ln/>
        </p:spPr>
        <p:txBody>
          <a:bodyPr wrap="square" lIns="0" tIns="0" rIns="0" bIns="0" rtlCol="0" anchor="t"/>
          <a:lstStyle/>
          <a:p>
            <a:pPr marL="0" indent="0" algn="l">
              <a:buNone/>
            </a:pPr>
            <a:r>
              <a:rPr lang="en-US" sz="1500" b="1" dirty="0">
                <a:solidFill>
                  <a:schemeClr val="accent3"/>
                </a:solidFill>
              </a:rPr>
              <a:t>Judge vs humans: weak match</a:t>
            </a:r>
            <a:endParaRPr lang="en-US" sz="1500" dirty="0"/>
          </a:p>
        </p:txBody>
      </p:sp>
      <p:sp>
        <p:nvSpPr>
          <p:cNvPr id="8" name="Text 5"/>
          <p:cNvSpPr txBox="1"/>
          <p:nvPr/>
        </p:nvSpPr>
        <p:spPr>
          <a:xfrm>
            <a:off x="8321040" y="4709160"/>
            <a:ext cx="3017520" cy="1280160"/>
          </a:xfrm>
          <a:prstGeom prst="rect">
            <a:avLst/>
          </a:prstGeom>
          <a:noFill/>
          <a:ln/>
        </p:spPr>
        <p:txBody>
          <a:bodyPr wrap="square" lIns="0" tIns="0" rIns="0" bIns="0" rtlCol="0" anchor="t"/>
          <a:lstStyle/>
          <a:p>
            <a:pPr marL="0" indent="0" algn="l">
              <a:buNone/>
            </a:pPr>
            <a:r>
              <a:rPr lang="en-US" sz="1400" dirty="0">
                <a:solidFill>
                  <a:schemeClr val="bg2"/>
                </a:solidFill>
              </a:rPr>
              <a:t>Correlation r = -0.14 (p = 0.72, 9 pairs). So the AI judge is a helpful signal, not ground truth.</a:t>
            </a:r>
            <a:endParaRPr lang="en-US" sz="14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Limitations and future work</a:t>
            </a:r>
            <a:endParaRPr lang="en-US" sz="3400" dirty="0"/>
          </a:p>
        </p:txBody>
      </p:sp>
      <p:sp>
        <p:nvSpPr>
          <p:cNvPr id="3" name="Limitations card"/>
          <p:cNvSpPr/>
          <p:nvPr/>
        </p:nvSpPr>
        <p:spPr>
          <a:xfrm>
            <a:off x="548640" y="1463040"/>
            <a:ext cx="5440680" cy="4663440"/>
          </a:xfrm>
          <a:prstGeom prst="rect">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868680" y="1645920"/>
            <a:ext cx="4754880" cy="411480"/>
          </a:xfrm>
          <a:prstGeom prst="rect">
            <a:avLst/>
          </a:prstGeom>
          <a:noFill/>
          <a:ln/>
        </p:spPr>
        <p:txBody>
          <a:bodyPr wrap="square" lIns="0" tIns="0" rIns="0" bIns="0" rtlCol="0" anchor="t"/>
          <a:lstStyle/>
          <a:p>
            <a:pPr marL="0" indent="0" algn="l">
              <a:buNone/>
            </a:pPr>
            <a:r>
              <a:rPr lang="en-US" sz="2200" b="1" dirty="0">
                <a:solidFill>
                  <a:schemeClr val="accent1"/>
                </a:solidFill>
                <a:latin typeface="Times New Roman" pitchFamily="34" charset="0"/>
                <a:ea typeface="Times New Roman" pitchFamily="34" charset="-122"/>
                <a:cs typeface="Times New Roman" pitchFamily="34" charset="-120"/>
              </a:rPr>
              <a:t>Limitations</a:t>
            </a:r>
            <a:endParaRPr lang="en-US" sz="2200" dirty="0"/>
          </a:p>
        </p:txBody>
      </p:sp>
      <p:sp>
        <p:nvSpPr>
          <p:cNvPr id="5" name="Text 3"/>
          <p:cNvSpPr txBox="1"/>
          <p:nvPr/>
        </p:nvSpPr>
        <p:spPr>
          <a:xfrm>
            <a:off x="868680" y="2286000"/>
            <a:ext cx="4846320" cy="3749040"/>
          </a:xfrm>
          <a:prstGeom prst="rect">
            <a:avLst/>
          </a:prstGeom>
          <a:noFill/>
          <a:ln/>
        </p:spPr>
        <p:txBody>
          <a:bodyPr wrap="square" lIns="0" tIns="0" rIns="0" bIns="0" rtlCol="0" anchor="t"/>
          <a:lstStyle/>
          <a:p>
            <a:pPr marL="342900" indent="-342900" algn="l">
              <a:spcAft>
                <a:spcPts val="1400"/>
              </a:spcAft>
              <a:buSzPct val="100000"/>
              <a:buChar char="•"/>
            </a:pPr>
            <a:r>
              <a:rPr lang="en-US" dirty="0">
                <a:solidFill>
                  <a:schemeClr val="tx2"/>
                </a:solidFill>
              </a:rPr>
              <a:t>T</a:t>
            </a:r>
            <a:r>
              <a:rPr lang="en-US" sz="1800" dirty="0">
                <a:solidFill>
                  <a:schemeClr val="tx2"/>
                </a:solidFill>
              </a:rPr>
              <a:t>he model learns from trending-video views</a:t>
            </a:r>
            <a:endParaRPr lang="en-US" sz="1800" dirty="0"/>
          </a:p>
          <a:p>
            <a:pPr marL="342900" indent="-342900" algn="l">
              <a:spcAft>
                <a:spcPts val="1400"/>
              </a:spcAft>
              <a:buSzPct val="100000"/>
              <a:buChar char="•"/>
            </a:pPr>
            <a:r>
              <a:rPr lang="en-US" sz="1800" dirty="0">
                <a:solidFill>
                  <a:schemeClr val="tx2"/>
                </a:solidFill>
              </a:rPr>
              <a:t>Model scored F1 0.69 and AUC 0.76, below the 0.75 and 0.80 goals</a:t>
            </a:r>
            <a:endParaRPr lang="en-US" sz="1800" dirty="0"/>
          </a:p>
          <a:p>
            <a:pPr marL="342900" indent="-342900" algn="l">
              <a:spcAft>
                <a:spcPts val="1400"/>
              </a:spcAft>
              <a:buSzPct val="100000"/>
              <a:buChar char="•"/>
            </a:pPr>
            <a:r>
              <a:rPr lang="en-US" sz="1800" dirty="0">
                <a:solidFill>
                  <a:schemeClr val="tx2"/>
                </a:solidFill>
              </a:rPr>
              <a:t>VADER cannot tell anger from awe</a:t>
            </a:r>
            <a:endParaRPr lang="en-US" sz="1800" dirty="0"/>
          </a:p>
          <a:p>
            <a:pPr marL="342900" indent="-342900" algn="l">
              <a:spcAft>
                <a:spcPts val="1400"/>
              </a:spcAft>
              <a:buSzPct val="100000"/>
              <a:buChar char="•"/>
            </a:pPr>
            <a:r>
              <a:rPr lang="en-US" sz="1800" dirty="0">
                <a:solidFill>
                  <a:schemeClr val="tx2"/>
                </a:solidFill>
              </a:rPr>
              <a:t>English only, titles only (no thumbnail)</a:t>
            </a:r>
            <a:endParaRPr lang="en-US" sz="1800" dirty="0"/>
          </a:p>
          <a:p>
            <a:pPr marL="342900" indent="-342900" algn="l">
              <a:spcAft>
                <a:spcPts val="1400"/>
              </a:spcAft>
              <a:buSzPct val="100000"/>
              <a:buChar char="•"/>
            </a:pPr>
            <a:r>
              <a:rPr lang="en-US" sz="1800" dirty="0">
                <a:solidFill>
                  <a:schemeClr val="tx2"/>
                </a:solidFill>
              </a:rPr>
              <a:t>Small pilot survey, no significant differences</a:t>
            </a:r>
            <a:endParaRPr lang="en-US" sz="1800" dirty="0"/>
          </a:p>
        </p:txBody>
      </p:sp>
      <p:sp>
        <p:nvSpPr>
          <p:cNvPr id="6" name="Future work card"/>
          <p:cNvSpPr/>
          <p:nvPr/>
        </p:nvSpPr>
        <p:spPr>
          <a:xfrm>
            <a:off x="6172200" y="1463040"/>
            <a:ext cx="5440680" cy="4663440"/>
          </a:xfrm>
          <a:prstGeom prst="rect">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492240" y="1645920"/>
            <a:ext cx="4754880" cy="411480"/>
          </a:xfrm>
          <a:prstGeom prst="rect">
            <a:avLst/>
          </a:prstGeom>
          <a:noFill/>
          <a:ln/>
        </p:spPr>
        <p:txBody>
          <a:bodyPr wrap="square" lIns="0" tIns="0" rIns="0" bIns="0" rtlCol="0" anchor="t"/>
          <a:lstStyle/>
          <a:p>
            <a:pPr marL="0" indent="0" algn="l">
              <a:buNone/>
            </a:pPr>
            <a:r>
              <a:rPr lang="en-US" sz="2200" b="1" dirty="0">
                <a:solidFill>
                  <a:schemeClr val="accent2"/>
                </a:solidFill>
                <a:latin typeface="Times New Roman" pitchFamily="34" charset="0"/>
                <a:ea typeface="Times New Roman" pitchFamily="34" charset="-122"/>
                <a:cs typeface="Times New Roman" pitchFamily="34" charset="-120"/>
              </a:rPr>
              <a:t>Future work</a:t>
            </a:r>
            <a:endParaRPr lang="en-US" sz="2200" dirty="0"/>
          </a:p>
        </p:txBody>
      </p:sp>
      <p:sp>
        <p:nvSpPr>
          <p:cNvPr id="8" name="Text 6"/>
          <p:cNvSpPr txBox="1"/>
          <p:nvPr/>
        </p:nvSpPr>
        <p:spPr>
          <a:xfrm>
            <a:off x="6492240" y="2286000"/>
            <a:ext cx="4846320" cy="3749040"/>
          </a:xfrm>
          <a:prstGeom prst="rect">
            <a:avLst/>
          </a:prstGeom>
          <a:noFill/>
          <a:ln/>
        </p:spPr>
        <p:txBody>
          <a:bodyPr wrap="square" lIns="0" tIns="0" rIns="0" bIns="0" rtlCol="0" anchor="t"/>
          <a:lstStyle/>
          <a:p>
            <a:pPr marL="342900" indent="-342900" algn="l">
              <a:spcAft>
                <a:spcPts val="1400"/>
              </a:spcAft>
              <a:buSzPct val="100000"/>
              <a:buChar char="•"/>
            </a:pPr>
            <a:r>
              <a:rPr lang="en-US" sz="1800" dirty="0">
                <a:solidFill>
                  <a:schemeClr val="tx2"/>
                </a:solidFill>
              </a:rPr>
              <a:t>Use real CTR from YouTube Studio with creator consent</a:t>
            </a:r>
            <a:endParaRPr lang="en-US" sz="1800" dirty="0"/>
          </a:p>
          <a:p>
            <a:pPr marL="342900" indent="-342900" algn="l">
              <a:spcAft>
                <a:spcPts val="1400"/>
              </a:spcAft>
              <a:buSzPct val="100000"/>
              <a:buChar char="•"/>
            </a:pPr>
            <a:r>
              <a:rPr lang="en-US" sz="1800" dirty="0">
                <a:solidFill>
                  <a:schemeClr val="tx2"/>
                </a:solidFill>
              </a:rPr>
              <a:t>Add thumbnail analysis for joint optimization</a:t>
            </a:r>
            <a:endParaRPr lang="en-US" sz="1800" dirty="0"/>
          </a:p>
          <a:p>
            <a:pPr marL="342900" indent="-342900" algn="l">
              <a:spcAft>
                <a:spcPts val="1400"/>
              </a:spcAft>
              <a:buSzPct val="100000"/>
              <a:buChar char="•"/>
            </a:pPr>
            <a:r>
              <a:rPr lang="en-US" sz="1800" dirty="0">
                <a:solidFill>
                  <a:schemeClr val="tx2"/>
                </a:solidFill>
              </a:rPr>
              <a:t>Fine-tune an LLM on high-CTR titles</a:t>
            </a:r>
            <a:endParaRPr lang="en-US" sz="1800" dirty="0"/>
          </a:p>
          <a:p>
            <a:pPr marL="342900" indent="-342900" algn="l">
              <a:spcAft>
                <a:spcPts val="1400"/>
              </a:spcAft>
              <a:buSzPct val="100000"/>
              <a:buChar char="•"/>
            </a:pPr>
            <a:r>
              <a:rPr lang="en-US" sz="1800" dirty="0">
                <a:solidFill>
                  <a:schemeClr val="tx2"/>
                </a:solidFill>
              </a:rPr>
              <a:t>Support more languages</a:t>
            </a:r>
            <a:endParaRPr lang="en-US" sz="1800" dirty="0"/>
          </a:p>
          <a:p>
            <a:pPr marL="342900" indent="-342900" algn="l">
              <a:spcAft>
                <a:spcPts val="1400"/>
              </a:spcAft>
              <a:buSzPct val="100000"/>
              <a:buChar char="•"/>
            </a:pPr>
            <a:r>
              <a:rPr lang="en-US" sz="1800" dirty="0">
                <a:solidFill>
                  <a:schemeClr val="tx2"/>
                </a:solidFill>
              </a:rPr>
              <a:t>Replace VADER with an arousal classifier</a:t>
            </a:r>
            <a:endParaRPr lang="en-US" sz="18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680960" cy="2194560"/>
          </a:xfrm>
          <a:prstGeom prst="rect">
            <a:avLst/>
          </a:prstGeom>
          <a:noFill/>
          <a:ln/>
        </p:spPr>
        <p:txBody>
          <a:bodyPr wrap="square" lIns="0" tIns="0" rIns="0" bIns="0" rtlCol="0" anchor="b"/>
          <a:lstStyle/>
          <a:p>
            <a:pPr marL="0" indent="0" algn="l">
              <a:buNone/>
            </a:pPr>
            <a:r>
              <a:rPr lang="en-US" sz="4000" b="1" dirty="0">
                <a:solidFill>
                  <a:schemeClr val="bg1"/>
                </a:solidFill>
              </a:rPr>
              <a:t>Conclusion</a:t>
            </a:r>
            <a:endParaRPr lang="en-US" sz="4000" dirty="0"/>
          </a:p>
        </p:txBody>
      </p:sp>
      <p:sp>
        <p:nvSpPr>
          <p:cNvPr id="3" name="Text 0"/>
          <p:cNvSpPr>
            <a:spLocks noGrp="1"/>
          </p:cNvSpPr>
          <p:nvPr>
            <p:ph type="body" idx="101" hasCustomPrompt="1"/>
          </p:nvPr>
        </p:nvSpPr>
        <p:spPr>
          <a:xfrm>
            <a:off x="731520" y="4114800"/>
            <a:ext cx="7680960" cy="914400"/>
          </a:xfrm>
          <a:prstGeom prst="rect">
            <a:avLst/>
          </a:prstGeom>
          <a:noFill/>
          <a:ln/>
        </p:spPr>
        <p:txBody>
          <a:bodyPr wrap="square" lIns="0" tIns="0" rIns="0" bIns="0" rtlCol="0" anchor="t"/>
          <a:lstStyle/>
          <a:p>
            <a:pPr marL="0" indent="0" algn="l">
              <a:buNone/>
            </a:pPr>
            <a:r>
              <a:rPr lang="en-US" sz="2000" dirty="0">
                <a:solidFill>
                  <a:schemeClr val="bg2"/>
                </a:solidFill>
              </a:rPr>
              <a:t>Thank you. Questions?</a:t>
            </a:r>
            <a:endParaRPr lang="en-US" sz="2000" dirty="0"/>
          </a:p>
        </p:txBody>
      </p:sp>
      <p:sp>
        <p:nvSpPr>
          <p:cNvPr id="4" name="Summary panel"/>
          <p:cNvSpPr/>
          <p:nvPr/>
        </p:nvSpPr>
        <p:spPr>
          <a:xfrm>
            <a:off x="8503920" y="1463040"/>
            <a:ext cx="3200400" cy="4206240"/>
          </a:xfrm>
          <a:prstGeom prst="rect">
            <a:avLst/>
          </a:prstGeom>
          <a:solidFill>
            <a:schemeClr val="tx2"/>
          </a:solidFill>
          <a:ln w="12700">
            <a:solidFill>
              <a:schemeClr val="tx2"/>
            </a:solidFill>
            <a:prstDash val="solid"/>
          </a:ln>
        </p:spPr>
        <p:txBody>
          <a:bodyPr/>
          <a:lstStyle/>
          <a:p>
            <a:endParaRPr lang="en-US"/>
          </a:p>
        </p:txBody>
      </p:sp>
      <p:sp>
        <p:nvSpPr>
          <p:cNvPr id="5" name="Text 3"/>
          <p:cNvSpPr txBox="1"/>
          <p:nvPr/>
        </p:nvSpPr>
        <p:spPr>
          <a:xfrm>
            <a:off x="8778240" y="1737360"/>
            <a:ext cx="2651760" cy="3749040"/>
          </a:xfrm>
          <a:prstGeom prst="rect">
            <a:avLst/>
          </a:prstGeom>
          <a:noFill/>
          <a:ln/>
        </p:spPr>
        <p:txBody>
          <a:bodyPr wrap="square" lIns="0" tIns="0" rIns="0" bIns="0" rtlCol="0" anchor="t"/>
          <a:lstStyle/>
          <a:p>
            <a:pPr marL="0" indent="0" algn="l">
              <a:spcAft>
                <a:spcPts val="800"/>
              </a:spcAft>
              <a:buNone/>
            </a:pPr>
            <a:r>
              <a:rPr lang="en-US" sz="1600" b="1" dirty="0">
                <a:solidFill>
                  <a:schemeClr val="accent3"/>
                </a:solidFill>
              </a:rPr>
              <a:t>What I delivered</a:t>
            </a:r>
            <a:endParaRPr lang="en-US" sz="1600" dirty="0"/>
          </a:p>
          <a:p>
            <a:pPr marL="342900" indent="-342900" algn="l">
              <a:spcAft>
                <a:spcPts val="600"/>
              </a:spcAft>
              <a:buSzPct val="100000"/>
              <a:buChar char="•"/>
            </a:pPr>
            <a:r>
              <a:rPr lang="en-US" sz="1600" dirty="0">
                <a:solidFill>
                  <a:schemeClr val="bg1"/>
                </a:solidFill>
              </a:rPr>
              <a:t>A working 3-agent API</a:t>
            </a:r>
            <a:endParaRPr lang="en-US" sz="1600" dirty="0"/>
          </a:p>
          <a:p>
            <a:pPr marL="342900" indent="-342900" algn="l">
              <a:spcAft>
                <a:spcPts val="600"/>
              </a:spcAft>
              <a:buSzPct val="100000"/>
              <a:buChar char="•"/>
            </a:pPr>
            <a:r>
              <a:rPr lang="en-US" sz="1600" dirty="0">
                <a:solidFill>
                  <a:schemeClr val="bg1"/>
                </a:solidFill>
              </a:rPr>
              <a:t>94% of titles pass the truth check</a:t>
            </a:r>
            <a:endParaRPr lang="en-US" sz="1600" dirty="0"/>
          </a:p>
          <a:p>
            <a:pPr marL="342900" indent="-342900" algn="l">
              <a:spcAft>
                <a:spcPts val="600"/>
              </a:spcAft>
              <a:buSzPct val="100000"/>
              <a:buChar char="•"/>
            </a:pPr>
            <a:r>
              <a:rPr lang="en-US" sz="1600" dirty="0">
                <a:solidFill>
                  <a:schemeClr val="bg1"/>
                </a:solidFill>
              </a:rPr>
              <a:t>95th percentile under 10 seconds</a:t>
            </a:r>
            <a:endParaRPr lang="en-US" sz="1600" dirty="0"/>
          </a:p>
          <a:p>
            <a:pPr marL="342900" indent="-342900" algn="l">
              <a:spcAft>
                <a:spcPts val="600"/>
              </a:spcAft>
              <a:buSzPct val="100000"/>
              <a:buChar char="•"/>
            </a:pPr>
            <a:r>
              <a:rPr lang="en-US" sz="1600" dirty="0">
                <a:solidFill>
                  <a:schemeClr val="bg1"/>
                </a:solidFill>
              </a:rPr>
              <a:t>Beats plain descriptive titles on AI-judge curiosity</a:t>
            </a:r>
            <a:endParaRPr lang="en-US" sz="1600" dirty="0"/>
          </a:p>
          <a:p>
            <a:pPr marL="342900" indent="-342900" algn="l">
              <a:buSzPct val="100000"/>
              <a:buChar char="•"/>
            </a:pPr>
            <a:r>
              <a:rPr lang="en-US" sz="1600" dirty="0">
                <a:solidFill>
                  <a:schemeClr val="bg1"/>
                </a:solidFill>
              </a:rPr>
              <a:t>Honest about gaps: model and survey results are modest</a:t>
            </a:r>
            <a:endParaRPr lang="en-US" sz="16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CFCFD6"/>
                </a:solidFill>
                <a:latin typeface="Times New Roman"/>
                <a:ea typeface="Times New Roman"/>
                <a:cs typeface="Times New Roman"/>
              </a:defRPr>
            </a:lvl1pPr>
          </a:lstStyle>
          <a:p>
            <a:pPr algn="ct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References</a:t>
            </a:r>
            <a:endParaRPr lang="en-US" sz="3400" dirty="0"/>
          </a:p>
        </p:txBody>
      </p:sp>
      <p:sp>
        <p:nvSpPr>
          <p:cNvPr id="3" name="Text 1"/>
          <p:cNvSpPr txBox="1"/>
          <p:nvPr/>
        </p:nvSpPr>
        <p:spPr>
          <a:xfrm>
            <a:off x="548640" y="1463040"/>
            <a:ext cx="5394960" cy="4663440"/>
          </a:xfrm>
          <a:prstGeom prst="rect">
            <a:avLst/>
          </a:prstGeom>
          <a:noFill/>
          <a:ln/>
        </p:spPr>
        <p:txBody>
          <a:bodyPr wrap="square" lIns="0" tIns="0" rIns="0" bIns="0" rtlCol="0" anchor="t"/>
          <a:lstStyle/>
          <a:p>
            <a:pPr marL="0" indent="0" algn="l">
              <a:spcAft>
                <a:spcPts val="900"/>
              </a:spcAft>
              <a:buNone/>
            </a:pPr>
            <a:r>
              <a:rPr lang="en-US" sz="1200" dirty="0">
                <a:solidFill>
                  <a:schemeClr val="tx1"/>
                </a:solidFill>
              </a:rPr>
              <a:t>[1] K. Peffers, T. Tuunanen, M. A. Rothenberger, and S. Chatterjee, "A design science research methodology for information systems research," J. Manage. Inf. Syst., vol. 24, no. 3, pp. 45-77, 2007.</a:t>
            </a:r>
            <a:endParaRPr lang="en-US" sz="1200" dirty="0"/>
          </a:p>
          <a:p>
            <a:pPr marL="0" indent="0" algn="l">
              <a:spcAft>
                <a:spcPts val="900"/>
              </a:spcAft>
              <a:buNone/>
            </a:pPr>
            <a:r>
              <a:rPr lang="en-US" sz="1200" dirty="0">
                <a:solidFill>
                  <a:schemeClr val="tx1"/>
                </a:solidFill>
              </a:rPr>
              <a:t>[2] T. Brown et al., "Language models are few-shot learners," in Adv. Neural Inf. Process. Syst. (NeurIPS), 2020.</a:t>
            </a:r>
            <a:endParaRPr lang="en-US" sz="1200" dirty="0"/>
          </a:p>
          <a:p>
            <a:pPr marL="0" indent="0" algn="l">
              <a:spcAft>
                <a:spcPts val="900"/>
              </a:spcAft>
              <a:buNone/>
            </a:pPr>
            <a:r>
              <a:rPr lang="en-US" sz="1200" dirty="0">
                <a:solidFill>
                  <a:schemeClr val="tx1"/>
                </a:solidFill>
              </a:rPr>
              <a:t>[3] J. Wei et al., "Chain-of-thought prompting elicits reasoning in large language models," in Adv. Neural Inf. Process. Syst. (NeurIPS), 2022.</a:t>
            </a:r>
            <a:endParaRPr lang="en-US" sz="1200" dirty="0"/>
          </a:p>
          <a:p>
            <a:pPr marL="0" indent="0" algn="l">
              <a:spcAft>
                <a:spcPts val="900"/>
              </a:spcAft>
              <a:buNone/>
            </a:pPr>
            <a:r>
              <a:rPr lang="en-US" sz="1200" dirty="0">
                <a:solidFill>
                  <a:schemeClr val="tx1"/>
                </a:solidFill>
              </a:rPr>
              <a:t>[4] C. J. Hutto and E. Gilbert, "VADER: A parsimonious rule-based model for sentiment analysis of social media text," in Proc. ICWSM, 2014.</a:t>
            </a:r>
            <a:endParaRPr lang="en-US" sz="1200" dirty="0"/>
          </a:p>
          <a:p>
            <a:pPr marL="0" indent="0" algn="l">
              <a:spcAft>
                <a:spcPts val="900"/>
              </a:spcAft>
              <a:buNone/>
            </a:pPr>
            <a:r>
              <a:rPr lang="en-US" sz="1200" dirty="0">
                <a:solidFill>
                  <a:schemeClr val="tx1"/>
                </a:solidFill>
              </a:rPr>
              <a:t>[5] T. Zhang et al., "BERTScore: Evaluating text generation with BERT," in Proc. ICLR, 2020.</a:t>
            </a:r>
            <a:endParaRPr lang="en-US" sz="1200" dirty="0"/>
          </a:p>
          <a:p>
            <a:pPr marL="0" indent="0" algn="l">
              <a:spcAft>
                <a:spcPts val="900"/>
              </a:spcAft>
              <a:buNone/>
            </a:pPr>
            <a:r>
              <a:rPr lang="en-US" sz="1200" dirty="0">
                <a:solidFill>
                  <a:schemeClr val="tx1"/>
                </a:solidFill>
              </a:rPr>
              <a:t>[6] J. Berger and K. Milkman, "What makes online content viral?," J. Marketing Res., vol. 49, no. 2, 2012.</a:t>
            </a:r>
            <a:endParaRPr lang="en-US" sz="1200" dirty="0"/>
          </a:p>
        </p:txBody>
      </p:sp>
      <p:sp>
        <p:nvSpPr>
          <p:cNvPr id="4" name="Text 2"/>
          <p:cNvSpPr txBox="1"/>
          <p:nvPr/>
        </p:nvSpPr>
        <p:spPr>
          <a:xfrm>
            <a:off x="6217920" y="1463040"/>
            <a:ext cx="5394960" cy="4663440"/>
          </a:xfrm>
          <a:prstGeom prst="rect">
            <a:avLst/>
          </a:prstGeom>
          <a:noFill/>
          <a:ln/>
        </p:spPr>
        <p:txBody>
          <a:bodyPr wrap="square" lIns="0" tIns="0" rIns="0" bIns="0" rtlCol="0" anchor="t"/>
          <a:lstStyle/>
          <a:p>
            <a:pPr marL="0" indent="0" algn="l">
              <a:spcAft>
                <a:spcPts val="900"/>
              </a:spcAft>
              <a:buNone/>
            </a:pPr>
            <a:r>
              <a:rPr lang="en-US" sz="1200" dirty="0">
                <a:solidFill>
                  <a:schemeClr val="tx1"/>
                </a:solidFill>
              </a:rPr>
              <a:t>[7] G. Loewenstein, "The psychology of curiosity: A review and reinterpretation," Psychol. Bull., vol. 116, no. 1, pp. 75-98, 1994.</a:t>
            </a:r>
            <a:endParaRPr lang="en-US" sz="1200" dirty="0"/>
          </a:p>
          <a:p>
            <a:pPr marL="0" indent="0" algn="l">
              <a:spcAft>
                <a:spcPts val="900"/>
              </a:spcAft>
              <a:buNone/>
            </a:pPr>
            <a:r>
              <a:rPr lang="en-US" sz="1200" dirty="0">
                <a:solidFill>
                  <a:schemeClr val="tx1"/>
                </a:solidFill>
              </a:rPr>
              <a:t>[8] LangChain Inc., "Multi-agent systems," LangChain Documentation, 2024. [Online]. Available: https://docs.langchain.com/oss/python/langchain/multi-agent</a:t>
            </a:r>
            <a:endParaRPr lang="en-US" sz="1200" dirty="0"/>
          </a:p>
          <a:p>
            <a:pPr marL="0" indent="0" algn="l">
              <a:spcAft>
                <a:spcPts val="900"/>
              </a:spcAft>
              <a:buNone/>
            </a:pPr>
            <a:r>
              <a:rPr lang="en-US" sz="1200" dirty="0">
                <a:solidFill>
                  <a:schemeClr val="tx1"/>
                </a:solidFill>
              </a:rPr>
              <a:t>[9] "Beyond algorithms: The human touch in machine-generated titles," PLOS ONE, 2024, doi: 10.1371/journal.pone.0306639.</a:t>
            </a:r>
            <a:endParaRPr lang="en-US" sz="1200" dirty="0"/>
          </a:p>
          <a:p>
            <a:pPr marL="0" indent="0" algn="l">
              <a:spcAft>
                <a:spcPts val="900"/>
              </a:spcAft>
              <a:buNone/>
            </a:pPr>
            <a:r>
              <a:rPr lang="en-US" sz="1200" dirty="0">
                <a:solidFill>
                  <a:schemeClr val="tx1"/>
                </a:solidFill>
              </a:rPr>
              <a:t>[10] Kaggle, "Trending YouTube video dataset," rsrishav/youtube-trending-video-dataset.</a:t>
            </a:r>
            <a:endParaRPr lang="en-US" sz="1200" dirty="0"/>
          </a:p>
          <a:p>
            <a:pPr marL="0" indent="0" algn="l">
              <a:spcAft>
                <a:spcPts val="900"/>
              </a:spcAft>
              <a:buNone/>
            </a:pPr>
            <a:r>
              <a:rPr lang="en-US" sz="1200" dirty="0">
                <a:solidFill>
                  <a:schemeClr val="tx1"/>
                </a:solidFill>
              </a:rPr>
              <a:t>[11] Kaggle, "YouTube trending video statistics," datasnaek/youtube-new.</a:t>
            </a:r>
            <a:endParaRPr lang="en-US" sz="1200" dirty="0"/>
          </a:p>
          <a:p>
            <a:pPr marL="0" indent="0" algn="l">
              <a:spcAft>
                <a:spcPts val="900"/>
              </a:spcAft>
              <a:buNone/>
            </a:pPr>
            <a:r>
              <a:rPr lang="en-US" sz="1200" dirty="0">
                <a:solidFill>
                  <a:schemeClr val="tx1"/>
                </a:solidFill>
              </a:rPr>
              <a:t>[12] "Effect of title length and word count on views," EAI Endorsed Trans. Scalable Inf. Syst., 2025.</a:t>
            </a:r>
            <a:endParaRPr lang="en-US" sz="1200" dirty="0"/>
          </a:p>
        </p:txBody>
      </p:sp>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List of abbreviations</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754880"/>
        </p:xfrm>
        <a:graphic>
          <a:graphicData uri="http://schemas.openxmlformats.org/drawingml/2006/table">
            <a:tbl>
              <a:tblPr/>
              <a:tblGrid>
                <a:gridCol w="2194560">
                  <a:extLst>
                    <a:ext uri="{9D8B030D-6E8A-4147-A177-3AD203B41FA5}">
                      <a16:colId xmlns:a16="http://schemas.microsoft.com/office/drawing/2014/main" val="20000"/>
                    </a:ext>
                  </a:extLst>
                </a:gridCol>
                <a:gridCol w="8869680">
                  <a:extLst>
                    <a:ext uri="{9D8B030D-6E8A-4147-A177-3AD203B41FA5}">
                      <a16:colId xmlns:a16="http://schemas.microsoft.com/office/drawing/2014/main" val="20001"/>
                    </a:ext>
                  </a:extLst>
                </a:gridCol>
              </a:tblGrid>
              <a:tr h="365760">
                <a:tc>
                  <a:txBody>
                    <a:bodyPr/>
                    <a:lstStyle/>
                    <a:p>
                      <a:pPr marL="0" indent="0">
                        <a:buNone/>
                      </a:pPr>
                      <a:r>
                        <a:rPr lang="en-US" sz="1400" b="1" dirty="0">
                          <a:solidFill>
                            <a:srgbClr val="1B1B1F"/>
                          </a:solidFill>
                        </a:rPr>
                        <a:t>Abbreviation</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b="1" dirty="0">
                          <a:solidFill>
                            <a:srgbClr val="1B1B1F"/>
                          </a:solidFill>
                        </a:rPr>
                        <a:t>Description</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1B1B1F"/>
                          </a:solidFill>
                        </a:rPr>
                        <a:t>API</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Application Programming Interface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b="1" dirty="0">
                          <a:solidFill>
                            <a:srgbClr val="1B1B1F"/>
                          </a:solidFill>
                        </a:rPr>
                        <a:t>BERTScore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Meaning-similarity score built on BERT (Bidirectional Encoder Representations from Transformers)</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400" b="1" dirty="0">
                          <a:solidFill>
                            <a:srgbClr val="1B1B1F"/>
                          </a:solidFill>
                        </a:rPr>
                        <a:t>CTR</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Click-Through Rate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400" b="1" dirty="0">
                          <a:solidFill>
                            <a:srgbClr val="1B1B1F"/>
                          </a:solidFill>
                        </a:rPr>
                        <a:t>DSR</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Design Science Research</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400" b="1" dirty="0">
                          <a:solidFill>
                            <a:srgbClr val="1B1B1F"/>
                          </a:solidFill>
                        </a:rPr>
                        <a:t>F1</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F1 score: the balance of precision and recall</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400" b="1" dirty="0">
                          <a:solidFill>
                            <a:srgbClr val="1B1B1F"/>
                          </a:solidFill>
                        </a:rPr>
                        <a:t>LLM</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Large Language Model</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400" b="1" dirty="0">
                          <a:solidFill>
                            <a:srgbClr val="1B1B1F"/>
                          </a:solidFill>
                        </a:rPr>
                        <a:t>NLI</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Natural Language Inference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buNone/>
                      </a:pPr>
                      <a:r>
                        <a:rPr lang="en-US" sz="1400" b="1" dirty="0">
                          <a:solidFill>
                            <a:srgbClr val="1B1B1F"/>
                          </a:solidFill>
                        </a:rPr>
                        <a:t>pCTR</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Predicted Click-Through Rate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buNone/>
                      </a:pPr>
                      <a:r>
                        <a:rPr lang="en-US" sz="1400" b="1" dirty="0">
                          <a:solidFill>
                            <a:srgbClr val="1B1B1F"/>
                          </a:solidFill>
                        </a:rPr>
                        <a:t>ROC-AUC</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Area Under the Receiver Operating Characteristic Curve</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buNone/>
                      </a:pPr>
                      <a:r>
                        <a:rPr lang="en-US" sz="1400" b="1" dirty="0">
                          <a:solidFill>
                            <a:srgbClr val="1B1B1F"/>
                          </a:solidFill>
                        </a:rPr>
                        <a:t>RQ</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Research Question</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buNone/>
                      </a:pPr>
                      <a:r>
                        <a:rPr lang="en-US" sz="1400" b="1" dirty="0">
                          <a:solidFill>
                            <a:srgbClr val="1B1B1F"/>
                          </a:solidFill>
                        </a:rPr>
                        <a:t>Self-BLEU</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Self Bilingual Evaluation Understudy: overlap between titles in one batch (lower means more varied)</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buNone/>
                      </a:pPr>
                      <a:r>
                        <a:rPr lang="en-US" sz="1400" b="1" dirty="0">
                          <a:solidFill>
                            <a:srgbClr val="1B1B1F"/>
                          </a:solidFill>
                        </a:rPr>
                        <a:t>VADER</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tc>
                  <a:txBody>
                    <a:bodyPr/>
                    <a:lstStyle/>
                    <a:p>
                      <a:pPr marL="0" indent="0">
                        <a:buNone/>
                      </a:pPr>
                      <a:r>
                        <a:rPr lang="en-US" sz="1400" dirty="0">
                          <a:solidFill>
                            <a:srgbClr val="1B1B1F"/>
                          </a:solidFill>
                        </a:rPr>
                        <a:t>Valence Aware Dictionary and sEntiment Reasoner</a:t>
                      </a:r>
                      <a:endParaRPr lang="en-US" sz="1400" dirty="0"/>
                    </a:p>
                  </a:txBody>
                  <a:tcPr marT="0" marB="0" anchor="ctr">
                    <a:lnL w="6350" cap="flat" cmpd="sng" algn="ctr">
                      <a:solidFill>
                        <a:srgbClr val="BFBFC6"/>
                      </a:solidFill>
                      <a:prstDash val="solid"/>
                      <a:round/>
                      <a:headEnd type="none" w="med" len="med"/>
                      <a:tailEnd type="none" w="med" len="med"/>
                    </a:lnL>
                    <a:lnR w="6350" cap="flat" cmpd="sng" algn="ctr">
                      <a:solidFill>
                        <a:srgbClr val="BFBFC6"/>
                      </a:solidFill>
                      <a:prstDash val="solid"/>
                      <a:round/>
                      <a:headEnd type="none" w="med" len="med"/>
                      <a:tailEnd type="none" w="med" len="med"/>
                    </a:lnR>
                    <a:lnT w="6350" cap="flat" cmpd="sng" algn="ctr">
                      <a:solidFill>
                        <a:srgbClr val="BFBFC6"/>
                      </a:solidFill>
                      <a:prstDash val="solid"/>
                      <a:round/>
                      <a:headEnd type="none" w="med" len="med"/>
                      <a:tailEnd type="none" w="med" len="med"/>
                    </a:lnT>
                    <a:lnB w="6350" cap="flat" cmpd="sng" algn="ctr">
                      <a:solidFill>
                        <a:srgbClr val="BFBFC6"/>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25" name="Slide Number Placeholder 0"/>
          <p:cNvSpPr>
            <a:spLocks noGrp="1"/>
          </p:cNvSpPr>
          <p:nvPr>
            <p:ph type="sldNum" sz="quarter" idx="4294967295"/>
          </p:nvPr>
        </p:nvSpPr>
        <p:spPr>
          <a:xfrm>
            <a:off x="5394960" y="6400800"/>
            <a:ext cx="13716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3A3A44"/>
                </a:solidFill>
                <a:latin typeface="Times New Roman"/>
                <a:ea typeface="Times New Roman"/>
                <a:cs typeface="Times New Roman"/>
              </a:defRPr>
            </a:lvl1pPr>
          </a:lstStyle>
          <a:p>
            <a:pPr algn="ct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YTO Viva">
  <a:themeElements>
    <a:clrScheme name="YTO Viva">
      <a:dk1>
        <a:srgbClr val="1B1B1F"/>
      </a:dk1>
      <a:lt1>
        <a:srgbClr val="FFFFFF"/>
      </a:lt1>
      <a:dk2>
        <a:srgbClr val="3A3A44"/>
      </a:dk2>
      <a:lt2>
        <a:srgbClr val="F1F1F4"/>
      </a:lt2>
      <a:accent1>
        <a:srgbClr val="E63946"/>
      </a:accent1>
      <a:accent2>
        <a:srgbClr val="2A9D8F"/>
      </a:accent2>
      <a:accent3>
        <a:srgbClr val="F4A261"/>
      </a:accent3>
      <a:accent4>
        <a:srgbClr val="6C757D"/>
      </a:accent4>
      <a:accent5>
        <a:srgbClr val="8D99AE"/>
      </a:accent5>
      <a:accent6>
        <a:srgbClr val="264653"/>
      </a:accent6>
      <a:hlink>
        <a:srgbClr val="E63946"/>
      </a:hlink>
      <a:folHlink>
        <a:srgbClr val="6C757D"/>
      </a:folHlink>
    </a:clrScheme>
    <a:fontScheme name="YTO Viva">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2736</Words>
  <Application>Microsoft Office PowerPoint</Application>
  <PresentationFormat>Widescreen</PresentationFormat>
  <Paragraphs>289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Times New Roman</vt:lpstr>
      <vt:lpstr>YTO Viva</vt:lpstr>
      <vt:lpstr>AI-POWERED PROACTIVE YOUTUBE TITLE OPTIMIZER</vt:lpstr>
      <vt:lpstr>Why video titles matter so much</vt:lpstr>
      <vt:lpstr>Existing tools and the research gap</vt:lpstr>
      <vt:lpstr>What I built: three AI agents in a row</vt:lpstr>
      <vt:lpstr>Research questions and method</vt:lpstr>
      <vt:lpstr>What each agent does</vt:lpstr>
      <vt:lpstr>Keeping titles honest</vt:lpstr>
      <vt:lpstr>The dataset behind the click-appeal model</vt:lpstr>
      <vt:lpstr>The pCTR model: predicting click appeal</vt:lpstr>
      <vt:lpstr>What drives the click-appeal prediction</vt:lpstr>
      <vt:lpstr>Testing the full system on 20 video Scripts</vt:lpstr>
      <vt:lpstr>Do real people prefer the titles? (29 respondents)</vt:lpstr>
      <vt:lpstr>AI-as-a-judge scoring on 20 videos</vt:lpstr>
      <vt:lpstr>Limitations and future work</vt:lpstr>
      <vt:lpstr>Conclusion</vt:lpstr>
      <vt:lpstr>References</vt:lpstr>
      <vt:lpstr>List of abbreviations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Proactive YouTube Title Optimizer - Final Viva</dc:title>
  <dc:subject>PptxGenJS Presentation</dc:subject>
  <dc:creator>P.A.D.B. Pathiraja</dc:creator>
  <cp:lastModifiedBy>KLD Kaluthotage</cp:lastModifiedBy>
  <cp:revision>2</cp:revision>
  <dcterms:created xsi:type="dcterms:W3CDTF">2026-10-07T18:19:13Z</dcterms:created>
  <dcterms:modified xsi:type="dcterms:W3CDTF">2026-10-07T19:07:08Z</dcterms:modified>
</cp:coreProperties>
</file>