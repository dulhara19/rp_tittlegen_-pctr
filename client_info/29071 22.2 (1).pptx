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aytone One" charset="1" panose="00000500000000000000"/>
      <p:regular r:id="rId16"/>
    </p:embeddedFont>
    <p:embeddedFont>
      <p:font typeface="Canva Sans Bold" charset="1" panose="020B0803030501040103"/>
      <p:regular r:id="rId17"/>
    </p:embeddedFont>
    <p:embeddedFont>
      <p:font typeface="Canva Sans" charset="1" panose="020B0503030501040103"/>
      <p:regular r:id="rId18"/>
    </p:embeddedFont>
    <p:embeddedFont>
      <p:font typeface="Glacial Indifference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427090" y="5613399"/>
            <a:ext cx="7755207" cy="2293873"/>
            <a:chOff x="0" y="0"/>
            <a:chExt cx="10340276" cy="305849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14300"/>
              <a:ext cx="6733270" cy="6566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81"/>
                </a:lnSpc>
              </a:pPr>
              <a:r>
                <a:rPr lang="en-US" sz="3799" spc="-41">
                  <a:solidFill>
                    <a:srgbClr val="FFFFFF"/>
                  </a:solidFill>
                  <a:latin typeface="Paytone One"/>
                  <a:ea typeface="Paytone One"/>
                  <a:cs typeface="Paytone One"/>
                  <a:sym typeface="Paytone One"/>
                </a:rPr>
                <a:t>P.A.D.B.PATHIRAJA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885274"/>
              <a:ext cx="6733270" cy="6566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81"/>
                </a:lnSpc>
              </a:pPr>
              <a:r>
                <a:rPr lang="en-US" sz="3799" spc="-41">
                  <a:solidFill>
                    <a:srgbClr val="FFFFFF"/>
                  </a:solidFill>
                  <a:latin typeface="Paytone One"/>
                  <a:ea typeface="Paytone One"/>
                  <a:cs typeface="Paytone One"/>
                  <a:sym typeface="Paytone One"/>
                </a:rPr>
                <a:t>29071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656249"/>
              <a:ext cx="10340276" cy="6566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81"/>
                </a:lnSpc>
              </a:pPr>
              <a:r>
                <a:rPr lang="en-US" sz="3799" spc="-41">
                  <a:solidFill>
                    <a:srgbClr val="FFFFFF"/>
                  </a:solidFill>
                  <a:latin typeface="Paytone One"/>
                  <a:ea typeface="Paytone One"/>
                  <a:cs typeface="Paytone One"/>
                  <a:sym typeface="Paytone One"/>
                </a:rPr>
                <a:t>Bsc(Hons) Software Engineerig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401823"/>
              <a:ext cx="10340276" cy="6566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81"/>
                </a:lnSpc>
              </a:pPr>
              <a:r>
                <a:rPr lang="en-US" sz="3799" spc="-41">
                  <a:solidFill>
                    <a:srgbClr val="FFFFFF"/>
                  </a:solidFill>
                  <a:latin typeface="Paytone One"/>
                  <a:ea typeface="Paytone One"/>
                  <a:cs typeface="Paytone One"/>
                  <a:sym typeface="Paytone One"/>
                </a:rPr>
                <a:t>22.2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4853333" y="-2667744"/>
            <a:ext cx="6060414" cy="6144906"/>
          </a:xfrm>
          <a:custGeom>
            <a:avLst/>
            <a:gdLst/>
            <a:ahLst/>
            <a:cxnLst/>
            <a:rect r="r" b="b" t="t" l="l"/>
            <a:pathLst>
              <a:path h="6144906" w="6060414">
                <a:moveTo>
                  <a:pt x="0" y="0"/>
                </a:moveTo>
                <a:lnTo>
                  <a:pt x="6060414" y="0"/>
                </a:lnTo>
                <a:lnTo>
                  <a:pt x="6060414" y="6144907"/>
                </a:lnTo>
                <a:lnTo>
                  <a:pt x="0" y="6144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4074454" y="7117863"/>
            <a:ext cx="7203540" cy="7303970"/>
          </a:xfrm>
          <a:custGeom>
            <a:avLst/>
            <a:gdLst/>
            <a:ahLst/>
            <a:cxnLst/>
            <a:rect r="r" b="b" t="t" l="l"/>
            <a:pathLst>
              <a:path h="7303970" w="7203540">
                <a:moveTo>
                  <a:pt x="0" y="0"/>
                </a:moveTo>
                <a:lnTo>
                  <a:pt x="7203541" y="0"/>
                </a:lnTo>
                <a:lnTo>
                  <a:pt x="7203541" y="7303970"/>
                </a:lnTo>
                <a:lnTo>
                  <a:pt x="0" y="7303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700320">
            <a:off x="12572144" y="7100988"/>
            <a:ext cx="7077579" cy="5228562"/>
          </a:xfrm>
          <a:custGeom>
            <a:avLst/>
            <a:gdLst/>
            <a:ahLst/>
            <a:cxnLst/>
            <a:rect r="r" b="b" t="t" l="l"/>
            <a:pathLst>
              <a:path h="5228562" w="7077579">
                <a:moveTo>
                  <a:pt x="0" y="0"/>
                </a:moveTo>
                <a:lnTo>
                  <a:pt x="7077579" y="0"/>
                </a:lnTo>
                <a:lnTo>
                  <a:pt x="7077579" y="5228562"/>
                </a:lnTo>
                <a:lnTo>
                  <a:pt x="0" y="5228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175165" y="-813724"/>
            <a:ext cx="7077579" cy="5228562"/>
          </a:xfrm>
          <a:custGeom>
            <a:avLst/>
            <a:gdLst/>
            <a:ahLst/>
            <a:cxnLst/>
            <a:rect r="r" b="b" t="t" l="l"/>
            <a:pathLst>
              <a:path h="5228562" w="7077579">
                <a:moveTo>
                  <a:pt x="0" y="0"/>
                </a:moveTo>
                <a:lnTo>
                  <a:pt x="7077579" y="0"/>
                </a:lnTo>
                <a:lnTo>
                  <a:pt x="7077579" y="5228562"/>
                </a:lnTo>
                <a:lnTo>
                  <a:pt x="0" y="5228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212199" y="1409209"/>
            <a:ext cx="1641134" cy="1664014"/>
          </a:xfrm>
          <a:custGeom>
            <a:avLst/>
            <a:gdLst/>
            <a:ahLst/>
            <a:cxnLst/>
            <a:rect r="r" b="b" t="t" l="l"/>
            <a:pathLst>
              <a:path h="1664014" w="1641134">
                <a:moveTo>
                  <a:pt x="0" y="0"/>
                </a:moveTo>
                <a:lnTo>
                  <a:pt x="1641134" y="0"/>
                </a:lnTo>
                <a:lnTo>
                  <a:pt x="1641134" y="1664014"/>
                </a:lnTo>
                <a:lnTo>
                  <a:pt x="0" y="16640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261280" y="9105834"/>
            <a:ext cx="1641134" cy="1664014"/>
          </a:xfrm>
          <a:custGeom>
            <a:avLst/>
            <a:gdLst/>
            <a:ahLst/>
            <a:cxnLst/>
            <a:rect r="r" b="b" t="t" l="l"/>
            <a:pathLst>
              <a:path h="1664014" w="1641134">
                <a:moveTo>
                  <a:pt x="0" y="0"/>
                </a:moveTo>
                <a:lnTo>
                  <a:pt x="1641134" y="0"/>
                </a:lnTo>
                <a:lnTo>
                  <a:pt x="1641134" y="1664014"/>
                </a:lnTo>
                <a:lnTo>
                  <a:pt x="0" y="16640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785678">
            <a:off x="12490813" y="1998339"/>
            <a:ext cx="12789097" cy="9447945"/>
          </a:xfrm>
          <a:custGeom>
            <a:avLst/>
            <a:gdLst/>
            <a:ahLst/>
            <a:cxnLst/>
            <a:rect r="r" b="b" t="t" l="l"/>
            <a:pathLst>
              <a:path h="9447945" w="12789097">
                <a:moveTo>
                  <a:pt x="0" y="0"/>
                </a:moveTo>
                <a:lnTo>
                  <a:pt x="12789097" y="0"/>
                </a:lnTo>
                <a:lnTo>
                  <a:pt x="12789097" y="9447945"/>
                </a:lnTo>
                <a:lnTo>
                  <a:pt x="0" y="9447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49816" y="1009650"/>
            <a:ext cx="9788369" cy="1265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04"/>
              </a:lnSpc>
            </a:pPr>
            <a:r>
              <a:rPr lang="en-US" sz="8200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OVERVIEW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3785678">
            <a:off x="-5980802" y="1532735"/>
            <a:ext cx="12789097" cy="9447945"/>
          </a:xfrm>
          <a:custGeom>
            <a:avLst/>
            <a:gdLst/>
            <a:ahLst/>
            <a:cxnLst/>
            <a:rect r="r" b="b" t="t" l="l"/>
            <a:pathLst>
              <a:path h="9447945" w="12789097">
                <a:moveTo>
                  <a:pt x="0" y="0"/>
                </a:moveTo>
                <a:lnTo>
                  <a:pt x="12789097" y="0"/>
                </a:lnTo>
                <a:lnTo>
                  <a:pt x="12789097" y="9447946"/>
                </a:lnTo>
                <a:lnTo>
                  <a:pt x="0" y="94479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249816" y="3551541"/>
            <a:ext cx="5346617" cy="4774164"/>
            <a:chOff x="0" y="0"/>
            <a:chExt cx="7128823" cy="63655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60627" cy="628258"/>
            </a:xfrm>
            <a:custGeom>
              <a:avLst/>
              <a:gdLst/>
              <a:ahLst/>
              <a:cxnLst/>
              <a:rect r="r" b="b" t="t" l="l"/>
              <a:pathLst>
                <a:path h="628258" w="860627">
                  <a:moveTo>
                    <a:pt x="0" y="0"/>
                  </a:moveTo>
                  <a:lnTo>
                    <a:pt x="860627" y="0"/>
                  </a:lnTo>
                  <a:lnTo>
                    <a:pt x="860627" y="628258"/>
                  </a:lnTo>
                  <a:lnTo>
                    <a:pt x="0" y="6282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340526" y="-57150"/>
              <a:ext cx="4468743" cy="6231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US" sz="2786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The Problem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340526" y="3922084"/>
              <a:ext cx="5788297" cy="6231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US" sz="2786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Technologies to be Used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340526" y="1265991"/>
              <a:ext cx="4736305" cy="6231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US" sz="2786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Existing Solutions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340526" y="5330950"/>
              <a:ext cx="5222496" cy="1034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64"/>
                </a:lnSpc>
              </a:pPr>
              <a:r>
                <a:rPr lang="en-US" sz="2786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Dataset &amp; Machine Learning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340526" y="2594038"/>
              <a:ext cx="4468743" cy="6231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en-US" sz="2786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</a:t>
              </a:r>
              <a:r>
                <a:rPr lang="en-US" sz="2786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The Research Gap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325719"/>
              <a:ext cx="860627" cy="628258"/>
            </a:xfrm>
            <a:custGeom>
              <a:avLst/>
              <a:gdLst/>
              <a:ahLst/>
              <a:cxnLst/>
              <a:rect r="r" b="b" t="t" l="l"/>
              <a:pathLst>
                <a:path h="628258" w="860627">
                  <a:moveTo>
                    <a:pt x="0" y="0"/>
                  </a:moveTo>
                  <a:lnTo>
                    <a:pt x="860627" y="0"/>
                  </a:lnTo>
                  <a:lnTo>
                    <a:pt x="860627" y="628258"/>
                  </a:lnTo>
                  <a:lnTo>
                    <a:pt x="0" y="6282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2588977"/>
              <a:ext cx="860627" cy="628258"/>
            </a:xfrm>
            <a:custGeom>
              <a:avLst/>
              <a:gdLst/>
              <a:ahLst/>
              <a:cxnLst/>
              <a:rect r="r" b="b" t="t" l="l"/>
              <a:pathLst>
                <a:path h="628258" w="860627">
                  <a:moveTo>
                    <a:pt x="0" y="0"/>
                  </a:moveTo>
                  <a:lnTo>
                    <a:pt x="860627" y="0"/>
                  </a:lnTo>
                  <a:lnTo>
                    <a:pt x="860627" y="628257"/>
                  </a:lnTo>
                  <a:lnTo>
                    <a:pt x="0" y="6282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3948129"/>
              <a:ext cx="860627" cy="628258"/>
            </a:xfrm>
            <a:custGeom>
              <a:avLst/>
              <a:gdLst/>
              <a:ahLst/>
              <a:cxnLst/>
              <a:rect r="r" b="b" t="t" l="l"/>
              <a:pathLst>
                <a:path h="628258" w="860627">
                  <a:moveTo>
                    <a:pt x="0" y="0"/>
                  </a:moveTo>
                  <a:lnTo>
                    <a:pt x="860627" y="0"/>
                  </a:lnTo>
                  <a:lnTo>
                    <a:pt x="860627" y="628258"/>
                  </a:lnTo>
                  <a:lnTo>
                    <a:pt x="0" y="6282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5271270"/>
              <a:ext cx="860627" cy="628258"/>
            </a:xfrm>
            <a:custGeom>
              <a:avLst/>
              <a:gdLst/>
              <a:ahLst/>
              <a:cxnLst/>
              <a:rect r="r" b="b" t="t" l="l"/>
              <a:pathLst>
                <a:path h="628258" w="860627">
                  <a:moveTo>
                    <a:pt x="0" y="0"/>
                  </a:moveTo>
                  <a:lnTo>
                    <a:pt x="860627" y="0"/>
                  </a:lnTo>
                  <a:lnTo>
                    <a:pt x="860627" y="628257"/>
                  </a:lnTo>
                  <a:lnTo>
                    <a:pt x="0" y="6282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1779086" y="8325705"/>
            <a:ext cx="6545881" cy="6637142"/>
          </a:xfrm>
          <a:custGeom>
            <a:avLst/>
            <a:gdLst/>
            <a:ahLst/>
            <a:cxnLst/>
            <a:rect r="r" b="b" t="t" l="l"/>
            <a:pathLst>
              <a:path h="6637142" w="6545881">
                <a:moveTo>
                  <a:pt x="0" y="0"/>
                </a:moveTo>
                <a:lnTo>
                  <a:pt x="6545881" y="0"/>
                </a:lnTo>
                <a:lnTo>
                  <a:pt x="6545881" y="6637141"/>
                </a:lnTo>
                <a:lnTo>
                  <a:pt x="0" y="66371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8373705">
            <a:off x="-119861" y="-3406054"/>
            <a:ext cx="5573574" cy="5651279"/>
          </a:xfrm>
          <a:custGeom>
            <a:avLst/>
            <a:gdLst/>
            <a:ahLst/>
            <a:cxnLst/>
            <a:rect r="r" b="b" t="t" l="l"/>
            <a:pathLst>
              <a:path h="5651279" w="5573574">
                <a:moveTo>
                  <a:pt x="0" y="0"/>
                </a:moveTo>
                <a:lnTo>
                  <a:pt x="5573573" y="0"/>
                </a:lnTo>
                <a:lnTo>
                  <a:pt x="5573573" y="5651279"/>
                </a:lnTo>
                <a:lnTo>
                  <a:pt x="0" y="5651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785678">
            <a:off x="10832118" y="1998339"/>
            <a:ext cx="12789097" cy="9447945"/>
          </a:xfrm>
          <a:custGeom>
            <a:avLst/>
            <a:gdLst/>
            <a:ahLst/>
            <a:cxnLst/>
            <a:rect r="r" b="b" t="t" l="l"/>
            <a:pathLst>
              <a:path h="9447945" w="12789097">
                <a:moveTo>
                  <a:pt x="0" y="0"/>
                </a:moveTo>
                <a:lnTo>
                  <a:pt x="12789097" y="0"/>
                </a:lnTo>
                <a:lnTo>
                  <a:pt x="12789097" y="9447945"/>
                </a:lnTo>
                <a:lnTo>
                  <a:pt x="0" y="9447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46919" y="224444"/>
            <a:ext cx="8463945" cy="1190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94"/>
              </a:lnSpc>
            </a:pPr>
            <a:r>
              <a:rPr lang="en-US" sz="7700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THE PROBLEM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56444" y="1919385"/>
            <a:ext cx="12967964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Saturation Problem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5969" y="4003404"/>
            <a:ext cx="12967964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Metadata Bottleneck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46919" y="6042025"/>
            <a:ext cx="12967964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Skill Gap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6444" y="8222615"/>
            <a:ext cx="12967964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sz="30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Cold Start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65969" y="2526420"/>
            <a:ext cx="12967964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500 hours of video are uploaded to YouTube every minute, making discovery the biggest hurdle for creators.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75494" y="4638675"/>
            <a:ext cx="12967964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video’s success depends on the "click," a decision made in milliseconds based on the title and thumbnail.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6444" y="6673215"/>
            <a:ext cx="12967964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High-quality content often fails because creators lack the professional copywriting skills to leverage psychological triggers like "curiosity gaps"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56444" y="8858250"/>
            <a:ext cx="12967964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Without an initial burst of Click-Through Rate (CTR), platform algorithms stop recommending the video, causing it to "die" regardless of its quality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785678">
            <a:off x="10832118" y="1998339"/>
            <a:ext cx="12789097" cy="9447945"/>
          </a:xfrm>
          <a:custGeom>
            <a:avLst/>
            <a:gdLst/>
            <a:ahLst/>
            <a:cxnLst/>
            <a:rect r="r" b="b" t="t" l="l"/>
            <a:pathLst>
              <a:path h="9447945" w="12789097">
                <a:moveTo>
                  <a:pt x="0" y="0"/>
                </a:moveTo>
                <a:lnTo>
                  <a:pt x="12789097" y="0"/>
                </a:lnTo>
                <a:lnTo>
                  <a:pt x="12789097" y="9447945"/>
                </a:lnTo>
                <a:lnTo>
                  <a:pt x="0" y="9447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502002"/>
            <a:ext cx="6087141" cy="3299454"/>
          </a:xfrm>
          <a:custGeom>
            <a:avLst/>
            <a:gdLst/>
            <a:ahLst/>
            <a:cxnLst/>
            <a:rect r="r" b="b" t="t" l="l"/>
            <a:pathLst>
              <a:path h="3299454" w="6087141">
                <a:moveTo>
                  <a:pt x="0" y="0"/>
                </a:moveTo>
                <a:lnTo>
                  <a:pt x="6087141" y="0"/>
                </a:lnTo>
                <a:lnTo>
                  <a:pt x="6087141" y="3299454"/>
                </a:lnTo>
                <a:lnTo>
                  <a:pt x="0" y="32994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887" r="0" b="-188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61948" y="1492477"/>
            <a:ext cx="5865697" cy="3299454"/>
          </a:xfrm>
          <a:custGeom>
            <a:avLst/>
            <a:gdLst/>
            <a:ahLst/>
            <a:cxnLst/>
            <a:rect r="r" b="b" t="t" l="l"/>
            <a:pathLst>
              <a:path h="3299454" w="5865697">
                <a:moveTo>
                  <a:pt x="0" y="0"/>
                </a:moveTo>
                <a:lnTo>
                  <a:pt x="5865697" y="0"/>
                </a:lnTo>
                <a:lnTo>
                  <a:pt x="5865697" y="3299454"/>
                </a:lnTo>
                <a:lnTo>
                  <a:pt x="0" y="32994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6319045"/>
            <a:ext cx="6087141" cy="3424017"/>
          </a:xfrm>
          <a:custGeom>
            <a:avLst/>
            <a:gdLst/>
            <a:ahLst/>
            <a:cxnLst/>
            <a:rect r="r" b="b" t="t" l="l"/>
            <a:pathLst>
              <a:path h="3424017" w="6087141">
                <a:moveTo>
                  <a:pt x="0" y="0"/>
                </a:moveTo>
                <a:lnTo>
                  <a:pt x="6087141" y="0"/>
                </a:lnTo>
                <a:lnTo>
                  <a:pt x="6087141" y="3424017"/>
                </a:lnTo>
                <a:lnTo>
                  <a:pt x="0" y="34240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261948" y="6301994"/>
            <a:ext cx="6087141" cy="3424017"/>
          </a:xfrm>
          <a:custGeom>
            <a:avLst/>
            <a:gdLst/>
            <a:ahLst/>
            <a:cxnLst/>
            <a:rect r="r" b="b" t="t" l="l"/>
            <a:pathLst>
              <a:path h="3424017" w="6087141">
                <a:moveTo>
                  <a:pt x="0" y="0"/>
                </a:moveTo>
                <a:lnTo>
                  <a:pt x="6087141" y="0"/>
                </a:lnTo>
                <a:lnTo>
                  <a:pt x="6087141" y="3424016"/>
                </a:lnTo>
                <a:lnTo>
                  <a:pt x="0" y="34240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727937"/>
            <a:ext cx="12967964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 1  (Using Normal Titile)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537454"/>
            <a:ext cx="12967964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 2  (Using Normal Titile 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785678">
            <a:off x="10832118" y="1998339"/>
            <a:ext cx="12789097" cy="9447945"/>
          </a:xfrm>
          <a:custGeom>
            <a:avLst/>
            <a:gdLst/>
            <a:ahLst/>
            <a:cxnLst/>
            <a:rect r="r" b="b" t="t" l="l"/>
            <a:pathLst>
              <a:path h="9447945" w="12789097">
                <a:moveTo>
                  <a:pt x="0" y="0"/>
                </a:moveTo>
                <a:lnTo>
                  <a:pt x="12789097" y="0"/>
                </a:lnTo>
                <a:lnTo>
                  <a:pt x="12789097" y="9447945"/>
                </a:lnTo>
                <a:lnTo>
                  <a:pt x="0" y="9447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46919" y="395894"/>
            <a:ext cx="10940092" cy="1190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94"/>
              </a:lnSpc>
            </a:pPr>
            <a:r>
              <a:rPr lang="en-US" sz="7700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EXISTING SOLUTIONS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56444" y="2636410"/>
            <a:ext cx="12967964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Manual Copywriting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5969" y="4720429"/>
            <a:ext cx="12967964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Generic AI Tools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46919" y="6759050"/>
            <a:ext cx="12967964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Analytic Tools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65969" y="3243445"/>
            <a:ext cx="12585470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Experts use heuristic knowledge of psychological triggers (urgency, curiosity) to craft titles, but this is unscalable and inaccessible to most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75494" y="5355700"/>
            <a:ext cx="12575945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Standard LLM prompts (e.g., "Write a title") often produce flat, descriptive, or "hallucinated" results that lack viral dynamics.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6444" y="7390240"/>
            <a:ext cx="12594995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Platforms provide data on what happened (past CTR) but do not proactively generate optimized content to improve future performance.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785678">
            <a:off x="10832118" y="1998339"/>
            <a:ext cx="12789097" cy="9447945"/>
          </a:xfrm>
          <a:custGeom>
            <a:avLst/>
            <a:gdLst/>
            <a:ahLst/>
            <a:cxnLst/>
            <a:rect r="r" b="b" t="t" l="l"/>
            <a:pathLst>
              <a:path h="9447945" w="12789097">
                <a:moveTo>
                  <a:pt x="0" y="0"/>
                </a:moveTo>
                <a:lnTo>
                  <a:pt x="12789097" y="0"/>
                </a:lnTo>
                <a:lnTo>
                  <a:pt x="12789097" y="9447945"/>
                </a:lnTo>
                <a:lnTo>
                  <a:pt x="0" y="9447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46919" y="395894"/>
            <a:ext cx="10940092" cy="1190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94"/>
              </a:lnSpc>
            </a:pPr>
            <a:r>
              <a:rPr lang="en-US" sz="7700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 THE RESEARCH GAP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56444" y="2636410"/>
            <a:ext cx="12967964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Proactive vs. Reactive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5969" y="4720429"/>
            <a:ext cx="12967964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Operationalizing Theory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46919" y="6759050"/>
            <a:ext cx="12967964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Ethics Gap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65969" y="3243445"/>
            <a:ext cx="12585470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Existing tools are "reactive" (user-driven); this project proposes a "proactive" system that automatically handles analysis and optimization.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75494" y="5355700"/>
            <a:ext cx="12575945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There is a lack of research on turning psychological theories (like Information Gap Theory) into specific algorithmic prompts.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6444" y="7390240"/>
            <a:ext cx="12594995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Most tools focus on either "clicks" (marketing) or "truth" (security); this project bridges the gap by creating "Generative Ethics" that optimize for virality while preventing deception.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785678">
            <a:off x="10864751" y="2070249"/>
            <a:ext cx="12789097" cy="9447945"/>
          </a:xfrm>
          <a:custGeom>
            <a:avLst/>
            <a:gdLst/>
            <a:ahLst/>
            <a:cxnLst/>
            <a:rect r="r" b="b" t="t" l="l"/>
            <a:pathLst>
              <a:path h="9447945" w="12789097">
                <a:moveTo>
                  <a:pt x="0" y="0"/>
                </a:moveTo>
                <a:lnTo>
                  <a:pt x="12789098" y="0"/>
                </a:lnTo>
                <a:lnTo>
                  <a:pt x="12789098" y="9447946"/>
                </a:lnTo>
                <a:lnTo>
                  <a:pt x="0" y="94479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13060" y="1597516"/>
            <a:ext cx="5802428" cy="2937479"/>
          </a:xfrm>
          <a:custGeom>
            <a:avLst/>
            <a:gdLst/>
            <a:ahLst/>
            <a:cxnLst/>
            <a:rect r="r" b="b" t="t" l="l"/>
            <a:pathLst>
              <a:path h="2937479" w="5802428">
                <a:moveTo>
                  <a:pt x="0" y="0"/>
                </a:moveTo>
                <a:lnTo>
                  <a:pt x="5802428" y="0"/>
                </a:lnTo>
                <a:lnTo>
                  <a:pt x="5802428" y="2937479"/>
                </a:lnTo>
                <a:lnTo>
                  <a:pt x="0" y="29374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560707" y="1669584"/>
            <a:ext cx="5313665" cy="2988937"/>
          </a:xfrm>
          <a:custGeom>
            <a:avLst/>
            <a:gdLst/>
            <a:ahLst/>
            <a:cxnLst/>
            <a:rect r="r" b="b" t="t" l="l"/>
            <a:pathLst>
              <a:path h="2988937" w="5313665">
                <a:moveTo>
                  <a:pt x="0" y="0"/>
                </a:moveTo>
                <a:lnTo>
                  <a:pt x="5313665" y="0"/>
                </a:lnTo>
                <a:lnTo>
                  <a:pt x="5313665" y="2988937"/>
                </a:lnTo>
                <a:lnTo>
                  <a:pt x="0" y="29889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5655" y="6406769"/>
            <a:ext cx="5222185" cy="2937479"/>
          </a:xfrm>
          <a:custGeom>
            <a:avLst/>
            <a:gdLst/>
            <a:ahLst/>
            <a:cxnLst/>
            <a:rect r="r" b="b" t="t" l="l"/>
            <a:pathLst>
              <a:path h="2937479" w="5222185">
                <a:moveTo>
                  <a:pt x="0" y="0"/>
                </a:moveTo>
                <a:lnTo>
                  <a:pt x="5222185" y="0"/>
                </a:lnTo>
                <a:lnTo>
                  <a:pt x="5222185" y="2937479"/>
                </a:lnTo>
                <a:lnTo>
                  <a:pt x="0" y="29374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5655" y="1597516"/>
            <a:ext cx="5222185" cy="2937479"/>
          </a:xfrm>
          <a:custGeom>
            <a:avLst/>
            <a:gdLst/>
            <a:ahLst/>
            <a:cxnLst/>
            <a:rect r="r" b="b" t="t" l="l"/>
            <a:pathLst>
              <a:path h="2937479" w="5222185">
                <a:moveTo>
                  <a:pt x="0" y="0"/>
                </a:moveTo>
                <a:lnTo>
                  <a:pt x="5222185" y="0"/>
                </a:lnTo>
                <a:lnTo>
                  <a:pt x="5222185" y="2937479"/>
                </a:lnTo>
                <a:lnTo>
                  <a:pt x="0" y="29374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652187" y="6406769"/>
            <a:ext cx="5222185" cy="2937479"/>
          </a:xfrm>
          <a:custGeom>
            <a:avLst/>
            <a:gdLst/>
            <a:ahLst/>
            <a:cxnLst/>
            <a:rect r="r" b="b" t="t" l="l"/>
            <a:pathLst>
              <a:path h="2937479" w="5222185">
                <a:moveTo>
                  <a:pt x="0" y="0"/>
                </a:moveTo>
                <a:lnTo>
                  <a:pt x="5222185" y="0"/>
                </a:lnTo>
                <a:lnTo>
                  <a:pt x="5222185" y="2937479"/>
                </a:lnTo>
                <a:lnTo>
                  <a:pt x="0" y="29374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401934" y="6293575"/>
            <a:ext cx="5713553" cy="3163867"/>
          </a:xfrm>
          <a:custGeom>
            <a:avLst/>
            <a:gdLst/>
            <a:ahLst/>
            <a:cxnLst/>
            <a:rect r="r" b="b" t="t" l="l"/>
            <a:pathLst>
              <a:path h="3163867" w="5713553">
                <a:moveTo>
                  <a:pt x="0" y="0"/>
                </a:moveTo>
                <a:lnTo>
                  <a:pt x="5713554" y="0"/>
                </a:lnTo>
                <a:lnTo>
                  <a:pt x="5713554" y="3163867"/>
                </a:lnTo>
                <a:lnTo>
                  <a:pt x="0" y="31638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58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727937"/>
            <a:ext cx="12967964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 1  (Using AI Genarated Click Bait Titile 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537454"/>
            <a:ext cx="12967964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 2   (Using AI Genarated Click Bait Titile 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785678">
            <a:off x="10832118" y="1998339"/>
            <a:ext cx="12789097" cy="9447945"/>
          </a:xfrm>
          <a:custGeom>
            <a:avLst/>
            <a:gdLst/>
            <a:ahLst/>
            <a:cxnLst/>
            <a:rect r="r" b="b" t="t" l="l"/>
            <a:pathLst>
              <a:path h="9447945" w="12789097">
                <a:moveTo>
                  <a:pt x="0" y="0"/>
                </a:moveTo>
                <a:lnTo>
                  <a:pt x="12789097" y="0"/>
                </a:lnTo>
                <a:lnTo>
                  <a:pt x="12789097" y="9447945"/>
                </a:lnTo>
                <a:lnTo>
                  <a:pt x="0" y="9447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16415" y="528892"/>
            <a:ext cx="14004451" cy="1190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394"/>
              </a:lnSpc>
            </a:pPr>
            <a:r>
              <a:rPr lang="en-US" sz="7700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TECHNOLOGIES TO BE USED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56444" y="2374130"/>
            <a:ext cx="12967964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Backend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7869" y="3874440"/>
            <a:ext cx="12967964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Operationalizing Theory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46919" y="5952545"/>
            <a:ext cx="12967964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75494" y="7863260"/>
            <a:ext cx="12967964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Sentiment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6919" y="3008630"/>
            <a:ext cx="1258547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Python (FastAPI) for high-speed asynchronous API management.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6919" y="4673020"/>
            <a:ext cx="12575945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LangChain to manage the interaction between sub-agents (Analyzer, Generator, Critic).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7869" y="6583735"/>
            <a:ext cx="12594995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GPT-4o or Llama 3 for generative tasks, and BERTScore for checking semantic faithfulness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56444" y="8494450"/>
            <a:ext cx="12594995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VADER to measure emotional arousal levels in titles.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785678">
            <a:off x="10832118" y="1998339"/>
            <a:ext cx="12789097" cy="9447945"/>
          </a:xfrm>
          <a:custGeom>
            <a:avLst/>
            <a:gdLst/>
            <a:ahLst/>
            <a:cxnLst/>
            <a:rect r="r" b="b" t="t" l="l"/>
            <a:pathLst>
              <a:path h="9447945" w="12789097">
                <a:moveTo>
                  <a:pt x="0" y="0"/>
                </a:moveTo>
                <a:lnTo>
                  <a:pt x="12789097" y="0"/>
                </a:lnTo>
                <a:lnTo>
                  <a:pt x="12789097" y="9447945"/>
                </a:lnTo>
                <a:lnTo>
                  <a:pt x="0" y="9447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16415" y="528892"/>
            <a:ext cx="16230899" cy="1143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28"/>
              </a:lnSpc>
            </a:pPr>
            <a:r>
              <a:rPr lang="en-US" sz="7400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DATASET &amp; MACHINE LEARNING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56444" y="2374130"/>
            <a:ext cx="12967964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Sources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7869" y="3874440"/>
            <a:ext cx="12967964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Size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46919" y="5952545"/>
            <a:ext cx="12967964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ML Task (pCTR Regressor)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65969" y="7826747"/>
            <a:ext cx="12967964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Validation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6919" y="3008630"/>
            <a:ext cx="1476403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Public YouTube Trending Datasets (Kaggle) and targeted scraping via the YouTube Data API.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6919" y="4673020"/>
            <a:ext cx="12575945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Thousands of viral titles from high-performing channels (e.g., MrBeast) to extract linguistic patterns.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7869" y="6583735"/>
            <a:ext cx="11038875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Training a Random Forest or XGBoost model to predict a "Virality Score"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37394" y="7013947"/>
            <a:ext cx="11038875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based on title features.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30684" y="6556747"/>
            <a:ext cx="45726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64472" y="6370375"/>
            <a:ext cx="1815124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Views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449869" y="6846625"/>
            <a:ext cx="1647542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SubsCribers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64089" y="6575797"/>
            <a:ext cx="45726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=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46919" y="8438887"/>
            <a:ext cx="13440967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Using </a:t>
            </a:r>
            <a:r>
              <a:rPr lang="en-US" sz="2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NLI (Natural Language Inference)</a:t>
            </a:r>
            <a:r>
              <a:rPr lang="en-US" sz="2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to ensure the generated title does not contradict the video summary.</a:t>
            </a:r>
          </a:p>
        </p:txBody>
      </p:sp>
      <p:sp>
        <p:nvSpPr>
          <p:cNvPr name="AutoShape 18" id="18"/>
          <p:cNvSpPr/>
          <p:nvPr/>
        </p:nvSpPr>
        <p:spPr>
          <a:xfrm>
            <a:off x="13649882" y="6809795"/>
            <a:ext cx="114596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63624" y="4452163"/>
            <a:ext cx="14048521" cy="1811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114"/>
              </a:lnSpc>
            </a:pPr>
            <a:r>
              <a:rPr lang="en-US" sz="14735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THANK YOU  </a:t>
            </a:r>
            <a:r>
              <a:rPr lang="en-US" sz="14735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02998" y="2570303"/>
            <a:ext cx="7082005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NSBM Green University </a:t>
            </a:r>
            <a:r>
              <a:rPr lang="en-US" sz="27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- March 2026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853333" y="-2667744"/>
            <a:ext cx="6060414" cy="6144906"/>
          </a:xfrm>
          <a:custGeom>
            <a:avLst/>
            <a:gdLst/>
            <a:ahLst/>
            <a:cxnLst/>
            <a:rect r="r" b="b" t="t" l="l"/>
            <a:pathLst>
              <a:path h="6144906" w="6060414">
                <a:moveTo>
                  <a:pt x="0" y="0"/>
                </a:moveTo>
                <a:lnTo>
                  <a:pt x="6060414" y="0"/>
                </a:lnTo>
                <a:lnTo>
                  <a:pt x="6060414" y="6144907"/>
                </a:lnTo>
                <a:lnTo>
                  <a:pt x="0" y="6144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4074454" y="7117863"/>
            <a:ext cx="7203540" cy="7303970"/>
          </a:xfrm>
          <a:custGeom>
            <a:avLst/>
            <a:gdLst/>
            <a:ahLst/>
            <a:cxnLst/>
            <a:rect r="r" b="b" t="t" l="l"/>
            <a:pathLst>
              <a:path h="7303970" w="7203540">
                <a:moveTo>
                  <a:pt x="0" y="0"/>
                </a:moveTo>
                <a:lnTo>
                  <a:pt x="7203541" y="0"/>
                </a:lnTo>
                <a:lnTo>
                  <a:pt x="7203541" y="7303970"/>
                </a:lnTo>
                <a:lnTo>
                  <a:pt x="0" y="7303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700320">
            <a:off x="12572144" y="7100988"/>
            <a:ext cx="7077579" cy="5228562"/>
          </a:xfrm>
          <a:custGeom>
            <a:avLst/>
            <a:gdLst/>
            <a:ahLst/>
            <a:cxnLst/>
            <a:rect r="r" b="b" t="t" l="l"/>
            <a:pathLst>
              <a:path h="5228562" w="7077579">
                <a:moveTo>
                  <a:pt x="0" y="0"/>
                </a:moveTo>
                <a:lnTo>
                  <a:pt x="7077579" y="0"/>
                </a:lnTo>
                <a:lnTo>
                  <a:pt x="7077579" y="5228562"/>
                </a:lnTo>
                <a:lnTo>
                  <a:pt x="0" y="5228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175165" y="-813724"/>
            <a:ext cx="7077579" cy="5228562"/>
          </a:xfrm>
          <a:custGeom>
            <a:avLst/>
            <a:gdLst/>
            <a:ahLst/>
            <a:cxnLst/>
            <a:rect r="r" b="b" t="t" l="l"/>
            <a:pathLst>
              <a:path h="5228562" w="7077579">
                <a:moveTo>
                  <a:pt x="0" y="0"/>
                </a:moveTo>
                <a:lnTo>
                  <a:pt x="7077579" y="0"/>
                </a:lnTo>
                <a:lnTo>
                  <a:pt x="7077579" y="5228562"/>
                </a:lnTo>
                <a:lnTo>
                  <a:pt x="0" y="5228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212199" y="1409209"/>
            <a:ext cx="1641134" cy="1664014"/>
          </a:xfrm>
          <a:custGeom>
            <a:avLst/>
            <a:gdLst/>
            <a:ahLst/>
            <a:cxnLst/>
            <a:rect r="r" b="b" t="t" l="l"/>
            <a:pathLst>
              <a:path h="1664014" w="1641134">
                <a:moveTo>
                  <a:pt x="0" y="0"/>
                </a:moveTo>
                <a:lnTo>
                  <a:pt x="1641134" y="0"/>
                </a:lnTo>
                <a:lnTo>
                  <a:pt x="1641134" y="1664014"/>
                </a:lnTo>
                <a:lnTo>
                  <a:pt x="0" y="16640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261280" y="9105834"/>
            <a:ext cx="1641134" cy="1664014"/>
          </a:xfrm>
          <a:custGeom>
            <a:avLst/>
            <a:gdLst/>
            <a:ahLst/>
            <a:cxnLst/>
            <a:rect r="r" b="b" t="t" l="l"/>
            <a:pathLst>
              <a:path h="1664014" w="1641134">
                <a:moveTo>
                  <a:pt x="0" y="0"/>
                </a:moveTo>
                <a:lnTo>
                  <a:pt x="1641134" y="0"/>
                </a:lnTo>
                <a:lnTo>
                  <a:pt x="1641134" y="1664014"/>
                </a:lnTo>
                <a:lnTo>
                  <a:pt x="0" y="16640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352963" y="7287327"/>
            <a:ext cx="5582074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Presented by Dasharatha Bhanu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DAHC1a270BE</dc:identifier>
  <dcterms:modified xsi:type="dcterms:W3CDTF">2011-08-01T06:04:30Z</dcterms:modified>
  <cp:revision>1</cp:revision>
  <dc:title>Final y r 1 </dc:title>
</cp:coreProperties>
</file>